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0080625" cy="567055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8944" autoAdjust="0"/>
  </p:normalViewPr>
  <p:slideViewPr>
    <p:cSldViewPr snapToGrid="0">
      <p:cViewPr varScale="1">
        <p:scale>
          <a:sx n="82" d="100"/>
          <a:sy n="82" d="100"/>
        </p:scale>
        <p:origin x="90" y="14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2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6"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7"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8"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9B7AAA3-AA56-435F-B7CF-3C7EDF6B50C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image" Target="../media/image17.png"/><Relationship Id="rId5" Type="http://schemas.openxmlformats.org/officeDocument/2006/relationships/image" Target="../media/image21.png"/><Relationship Id="rId4" Type="http://schemas.openxmlformats.org/officeDocument/2006/relationships/image" Target="../media/image18.png"/></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noRot="1" noChangeAspect="1"/>
          </p:cNvSpPr>
          <p:nvPr>
            <p:ph type="sldImg"/>
          </p:nvPr>
        </p:nvSpPr>
        <p:spPr>
          <a:xfrm>
            <a:off x="533400" y="763588"/>
            <a:ext cx="6704013" cy="3771900"/>
          </a:xfrm>
          <a:prstGeom prst="rect">
            <a:avLst/>
          </a:prstGeom>
          <a:ln w="0">
            <a:noFill/>
          </a:ln>
        </p:spPr>
      </p:sp>
      <p:sp>
        <p:nvSpPr>
          <p:cNvPr id="102" name="PlaceHolder 2"/>
          <p:cNvSpPr>
            <a:spLocks noGrp="1"/>
          </p:cNvSpPr>
          <p:nvPr>
            <p:ph type="body"/>
          </p:nvPr>
        </p:nvSpPr>
        <p:spPr>
          <a:xfrm>
            <a:off x="777240" y="4777560"/>
            <a:ext cx="6217560" cy="14137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a:solidFill>
                  <a:srgbClr val="000000"/>
                </a:solidFill>
                <a:effectLst/>
                <a:uFillTx/>
                <a:latin typeface="Aptos" panose="020B0004020202020204" pitchFamily="34" charset="0"/>
              </a:rPr>
              <a:t>    This presentation examines two Python libraries for aviation software development: </a:t>
            </a: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and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a:t>
            </a: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is a comprehensive aircraft design and optimization library developed at MIT, utilizing automatic differentiation to solve complex aerospace engineering problems efficiently.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provides access to the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Network's extensive database of real-time and historical flight data, enabling analysis of global air traffic patterns through ADS-B and Mode S data. Both libraries demonstrate Python's growing role in aerospace applications, from theoretical aircraft design through operational flight tracking and analysis. The selection of these libraries reflects the aviation software development focus area within information technology, showcasing how modern programming tools support both engineering simulation and real-world data analysis in the aerospace industry.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noRot="1" noChangeAspect="1"/>
          </p:cNvSpPr>
          <p:nvPr>
            <p:ph type="sldImg"/>
          </p:nvPr>
        </p:nvSpPr>
        <p:spPr>
          <a:xfrm>
            <a:off x="533400" y="763588"/>
            <a:ext cx="6704013" cy="3771900"/>
          </a:xfrm>
          <a:prstGeom prst="rect">
            <a:avLst/>
          </a:prstGeom>
          <a:ln w="0">
            <a:noFill/>
          </a:ln>
        </p:spPr>
      </p:sp>
      <p:sp>
        <p:nvSpPr>
          <p:cNvPr id="10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000" b="0" u="none" strike="noStrike" dirty="0">
                <a:solidFill>
                  <a:srgbClr val="000000"/>
                </a:solidFill>
                <a:effectLst/>
                <a:uFillTx/>
                <a:latin typeface="Aptos" panose="020B0004020202020204" pitchFamily="34" charset="0"/>
              </a:rPr>
              <a:t>    </a:t>
            </a: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is a comprehensive Python package designed for aircraft design and optimization, developed by Peter Sharpe at MIT (Sharpe, 2024). The library leverages automatic differentiation to dramatically improve optimization performance, enabling engineers to solve design problems with tens of thousands of variables in seconds on standard laptops. It provides end-to-end differentiable physics models covering aerodynamics, structures, propulsion, and trajectory planning, allowing simultaneous multi-disciplinary </a:t>
            </a:r>
            <a:r>
              <a:rPr lang="en-US" sz="1800" b="0" u="none" strike="noStrike" dirty="0" err="1">
                <a:solidFill>
                  <a:srgbClr val="000000"/>
                </a:solidFill>
                <a:effectLst/>
                <a:uFillTx/>
                <a:latin typeface="Aptos" panose="020B0004020202020204" pitchFamily="34" charset="0"/>
              </a:rPr>
              <a:t>optimization.The</a:t>
            </a:r>
            <a:r>
              <a:rPr lang="en-US" sz="1800" b="0" u="none" strike="noStrike" dirty="0">
                <a:solidFill>
                  <a:srgbClr val="000000"/>
                </a:solidFill>
                <a:effectLst/>
                <a:uFillTx/>
                <a:latin typeface="Aptos" panose="020B0004020202020204" pitchFamily="34" charset="0"/>
              </a:rPr>
              <a:t> library supports the entire design process from conceptual sketches through detailed engineering analysis, integrates with CAD software via STEP file export, and maintains an active development community. Built on familiar NumPy syntax, </a:t>
            </a: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makes advanced optimization accessible to engineers comfortable with Python's scientific computing ecosystem while providing the computational power of modern automatic differentiation techniques.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noRot="1" noChangeAspect="1"/>
          </p:cNvSpPr>
          <p:nvPr>
            <p:ph type="sldImg"/>
          </p:nvPr>
        </p:nvSpPr>
        <p:spPr>
          <a:xfrm>
            <a:off x="533400" y="763588"/>
            <a:ext cx="6704013" cy="3771900"/>
          </a:xfrm>
          <a:prstGeom prst="rect">
            <a:avLst/>
          </a:prstGeom>
          <a:ln w="0">
            <a:noFill/>
          </a:ln>
        </p:spPr>
      </p:sp>
      <p:sp>
        <p:nvSpPr>
          <p:cNvPr id="106"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a:solidFill>
                  <a:srgbClr val="000000"/>
                </a:solidFill>
                <a:effectLst/>
                <a:uFillTx/>
                <a:latin typeface="Aptos" panose="020B0004020202020204" pitchFamily="34" charset="0"/>
              </a:rPr>
              <a:t>     </a:t>
            </a: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offers significant advantages including exceptional optimization speed through automatic differentiation, comprehensive built-in aerospace physics models, and Pythonic syntax familiar to data </a:t>
            </a:r>
            <a:r>
              <a:rPr lang="en-US" sz="1800" b="0" u="none" strike="noStrike" dirty="0" err="1">
                <a:solidFill>
                  <a:srgbClr val="000000"/>
                </a:solidFill>
                <a:effectLst/>
                <a:uFillTx/>
                <a:latin typeface="Aptos" panose="020B0004020202020204" pitchFamily="34" charset="0"/>
              </a:rPr>
              <a:t>scientists.The</a:t>
            </a:r>
            <a:r>
              <a:rPr lang="en-US" sz="1800" b="0" u="none" strike="noStrike" dirty="0">
                <a:solidFill>
                  <a:srgbClr val="000000"/>
                </a:solidFill>
                <a:effectLst/>
                <a:uFillTx/>
                <a:latin typeface="Aptos" panose="020B0004020202020204" pitchFamily="34" charset="0"/>
              </a:rPr>
              <a:t> library features excellent documentation with extensive tutorials and maintains an active MIT-led development community ensuring ongoing support. Integration capabilities with standard engineering workflows including CAD export enhance practical utility. However, the library presents limitations including a steep learning curve requiring understanding of both optimization theory and aerospace fundamentals. It primarily targets preliminary and conceptual design phases rather than detailed analysis, requires substantial domain expertise to formulate appropriate optimization problems, and brings a large dependency footprint that can complicate deployment. Some advanced features lack extensive documentation, requiring users to examine source code or engage with the community for guidance on cutting-edge capabilities.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noRot="1" noChangeAspect="1"/>
          </p:cNvSpPr>
          <p:nvPr>
            <p:ph type="sldImg"/>
          </p:nvPr>
        </p:nvSpPr>
        <p:spPr>
          <a:xfrm>
            <a:off x="533400" y="763588"/>
            <a:ext cx="6704013" cy="3771900"/>
          </a:xfrm>
          <a:prstGeom prst="rect">
            <a:avLst/>
          </a:prstGeom>
          <a:ln w="0">
            <a:noFill/>
          </a:ln>
        </p:spPr>
      </p:sp>
      <p:sp>
        <p:nvSpPr>
          <p:cNvPr id="10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presents a low overall security risk profile with a score of 1.62 out of 5.0. The library's primary security strengths include no network communication, local-only computation, no authentication requirements, and full code transparency as open-source software under the MIT license. These characteristics eliminate entire categories of security concerns common in cloud-based engineering tools and ensure that proprietary design data never leaves controlled computing environments. The main security considerations involve dependency management, as </a:t>
            </a: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relies on numerous well-established scientific Python packages including NumPy, SciPy, and Matplotlib. Organizations should implement dependency scanning and version pinning strategies to maintain control over their software supply chain. For classified or export-controlled aerospace applications, organizations must verify compliance with relevant regulations, though the library itself contains no restricted functionality (Sharpe, 2024)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noRot="1" noChangeAspect="1"/>
          </p:cNvSpPr>
          <p:nvPr>
            <p:ph type="sldImg"/>
          </p:nvPr>
        </p:nvSpPr>
        <p:spPr>
          <a:xfrm>
            <a:off x="533400" y="763588"/>
            <a:ext cx="6704013" cy="3771900"/>
          </a:xfrm>
          <a:prstGeom prst="rect">
            <a:avLst/>
          </a:prstGeom>
          <a:ln w="0">
            <a:noFill/>
          </a:ln>
        </p:spPr>
      </p:sp>
      <p:sp>
        <p:nvSpPr>
          <p:cNvPr id="11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a:solidFill>
                  <a:srgbClr val="000000"/>
                </a:solidFill>
                <a:effectLst/>
                <a:uFillTx/>
                <a:latin typeface="Aptos" panose="020B0004020202020204" pitchFamily="34" charset="0"/>
              </a:rPr>
              <a:t>      This demonstration shows the versatility of </a:t>
            </a:r>
            <a:r>
              <a:rPr lang="en-US" sz="1800" b="0" u="none" strike="noStrike" dirty="0" err="1">
                <a:solidFill>
                  <a:srgbClr val="000000"/>
                </a:solidFill>
                <a:effectLst/>
                <a:uFillTx/>
                <a:latin typeface="Aptos" panose="020B0004020202020204" pitchFamily="34" charset="0"/>
              </a:rPr>
              <a:t>AeroSandBox</a:t>
            </a:r>
            <a:r>
              <a:rPr lang="en-US" sz="1800" b="0" u="none" strike="noStrike" dirty="0">
                <a:solidFill>
                  <a:srgbClr val="000000"/>
                </a:solidFill>
                <a:effectLst/>
                <a:uFillTx/>
                <a:latin typeface="Aptos" panose="020B0004020202020204" pitchFamily="34" charset="0"/>
              </a:rPr>
              <a:t>. The </a:t>
            </a:r>
            <a:r>
              <a:rPr lang="en-US" sz="1800" b="0" u="none" strike="noStrike" dirty="0" err="1">
                <a:solidFill>
                  <a:srgbClr val="000000"/>
                </a:solidFill>
                <a:effectLst/>
                <a:uFillTx/>
                <a:latin typeface="Aptos" panose="020B0004020202020204" pitchFamily="34" charset="0"/>
              </a:rPr>
              <a:t>Jupyter</a:t>
            </a:r>
            <a:r>
              <a:rPr lang="en-US" sz="1800" b="0" u="none" strike="noStrike" dirty="0">
                <a:solidFill>
                  <a:srgbClr val="000000"/>
                </a:solidFill>
                <a:effectLst/>
                <a:uFillTx/>
                <a:latin typeface="Aptos" panose="020B0004020202020204" pitchFamily="34" charset="0"/>
              </a:rPr>
              <a:t> notebook ‘s primary focus was generating Vortex-Lattice method graphs that display the F-22s vortex and drag vs lift coefficient and other various measurements. These metrics were generated by using </a:t>
            </a:r>
            <a:r>
              <a:rPr lang="en-US" sz="1800" b="0" u="none" strike="noStrike" dirty="0" err="1">
                <a:solidFill>
                  <a:srgbClr val="000000"/>
                </a:solidFill>
                <a:effectLst/>
                <a:uFillTx/>
                <a:latin typeface="Aptos" panose="020B0004020202020204" pitchFamily="34" charset="0"/>
              </a:rPr>
              <a:t>AeroSandBox’s</a:t>
            </a:r>
            <a:r>
              <a:rPr lang="en-US" sz="1800" b="0" u="none" strike="noStrike" dirty="0">
                <a:solidFill>
                  <a:srgbClr val="000000"/>
                </a:solidFill>
                <a:effectLst/>
                <a:uFillTx/>
                <a:latin typeface="Aptos" panose="020B0004020202020204" pitchFamily="34" charset="0"/>
              </a:rPr>
              <a:t> built in classes and other libraries like matplotlib. Notably these graphs can be 2D or 3D given the problems necessary dimensionality. So long as the user knows aerospace science and python, this library is extremely approachable and genuinely  displays relevant data based on the overall measurements.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noRot="1" noChangeAspect="1"/>
          </p:cNvSpPr>
          <p:nvPr>
            <p:ph type="sldImg"/>
          </p:nvPr>
        </p:nvSpPr>
        <p:spPr>
          <a:xfrm>
            <a:off x="533400" y="763588"/>
            <a:ext cx="6704013" cy="3771900"/>
          </a:xfrm>
          <a:prstGeom prst="rect">
            <a:avLst/>
          </a:prstGeom>
          <a:ln w="0">
            <a:noFill/>
          </a:ln>
        </p:spPr>
      </p:sp>
      <p:sp>
        <p:nvSpPr>
          <p:cNvPr id="112" name="PlaceHolder 2"/>
          <p:cNvSpPr>
            <a:spLocks noGrp="1"/>
          </p:cNvSpPr>
          <p:nvPr>
            <p:ph type="body"/>
          </p:nvPr>
        </p:nvSpPr>
        <p:spPr>
          <a:xfrm>
            <a:off x="777240" y="470232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a:solidFill>
                  <a:srgbClr val="000000"/>
                </a:solidFill>
                <a:effectLst/>
                <a:uFillTx/>
                <a:latin typeface="Aptos" panose="020B0004020202020204" pitchFamily="34" charset="0"/>
              </a:rPr>
              <a:t>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is a Python library providing access to the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Network's extensive database of flight information collected from ADS-B and Mode S transponders worldwide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 2024). The library offers two interfaces: a REST API for live flight data and a Trino database interface for historical aviation data spanning years of global air traffic. Users can retrieve current aircraft state vectors showing position, velocity, altitude, and heading, query historical flight trajectories, search specific flights by callsign or identifier, and analyze traffic patterns at airports or geographic regions.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integrates seamlessly with pandas </a:t>
            </a:r>
            <a:r>
              <a:rPr lang="en-US" sz="1800" b="0" u="none" strike="noStrike" dirty="0" err="1">
                <a:solidFill>
                  <a:srgbClr val="000000"/>
                </a:solidFill>
                <a:effectLst/>
                <a:uFillTx/>
                <a:latin typeface="Aptos" panose="020B0004020202020204" pitchFamily="34" charset="0"/>
              </a:rPr>
              <a:t>DataFrames</a:t>
            </a:r>
            <a:r>
              <a:rPr lang="en-US" sz="1800" b="0" u="none" strike="noStrike" dirty="0">
                <a:solidFill>
                  <a:srgbClr val="000000"/>
                </a:solidFill>
                <a:effectLst/>
                <a:uFillTx/>
                <a:latin typeface="Aptos" panose="020B0004020202020204" pitchFamily="34" charset="0"/>
              </a:rPr>
              <a:t>, enabling statistical analysis, visualizations, and machine learning applications on aviation data. The library supports both authenticated access for full historical queries and unauthenticated access for live data. Released under the LGPL-3.0 license,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maintains active development with regular updates and a growing user community in aviation research.</a:t>
            </a:r>
          </a:p>
        </p:txBody>
      </p:sp>
      <p:pic>
        <p:nvPicPr>
          <p:cNvPr id="113" name="Picture 112"/>
          <p:cNvPicPr/>
          <p:nvPr/>
        </p:nvPicPr>
        <p:blipFill>
          <a:blip r:embed="rId3"/>
          <a:stretch/>
        </p:blipFill>
        <p:spPr>
          <a:xfrm>
            <a:off x="1047600" y="3337560"/>
            <a:ext cx="1734840" cy="829800"/>
          </a:xfrm>
          <a:prstGeom prst="rect">
            <a:avLst/>
          </a:prstGeom>
          <a:noFill/>
          <a:ln w="0">
            <a:noFill/>
          </a:ln>
        </p:spPr>
      </p:pic>
      <p:pic>
        <p:nvPicPr>
          <p:cNvPr id="114" name="Picture 113"/>
          <p:cNvPicPr/>
          <p:nvPr/>
        </p:nvPicPr>
        <p:blipFill>
          <a:blip r:embed="rId4"/>
          <a:stretch/>
        </p:blipFill>
        <p:spPr>
          <a:xfrm rot="27000">
            <a:off x="1269000" y="1971720"/>
            <a:ext cx="1008360" cy="890640"/>
          </a:xfrm>
          <a:prstGeom prst="rect">
            <a:avLst/>
          </a:prstGeom>
          <a:noFill/>
          <a:ln w="0">
            <a:noFill/>
          </a:ln>
        </p:spPr>
      </p:pic>
      <p:pic>
        <p:nvPicPr>
          <p:cNvPr id="115" name="Picture 114"/>
          <p:cNvPicPr/>
          <p:nvPr/>
        </p:nvPicPr>
        <p:blipFill>
          <a:blip r:embed="rId5"/>
          <a:stretch/>
        </p:blipFill>
        <p:spPr>
          <a:xfrm flipH="1">
            <a:off x="5136480" y="3220920"/>
            <a:ext cx="1815120" cy="1190160"/>
          </a:xfrm>
          <a:prstGeom prst="rect">
            <a:avLst/>
          </a:prstGeom>
          <a:noFill/>
          <a:ln w="0">
            <a:noFill/>
          </a:ln>
        </p:spPr>
      </p:pic>
      <p:pic>
        <p:nvPicPr>
          <p:cNvPr id="116" name="Picture 115"/>
          <p:cNvPicPr/>
          <p:nvPr/>
        </p:nvPicPr>
        <p:blipFill>
          <a:blip r:embed="rId6"/>
          <a:stretch/>
        </p:blipFill>
        <p:spPr>
          <a:xfrm rot="5385000">
            <a:off x="3502440" y="1880280"/>
            <a:ext cx="739800" cy="1019880"/>
          </a:xfrm>
          <a:prstGeom prst="rect">
            <a:avLst/>
          </a:prstGeom>
          <a:noFill/>
          <a:ln w="0">
            <a:noFill/>
          </a:ln>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noRot="1" noChangeAspect="1"/>
          </p:cNvSpPr>
          <p:nvPr>
            <p:ph type="sldImg"/>
          </p:nvPr>
        </p:nvSpPr>
        <p:spPr>
          <a:xfrm>
            <a:off x="533400" y="763588"/>
            <a:ext cx="6704013" cy="3771900"/>
          </a:xfrm>
          <a:prstGeom prst="rect">
            <a:avLst/>
          </a:prstGeom>
          <a:ln w="0">
            <a:noFill/>
          </a:ln>
        </p:spPr>
      </p:sp>
      <p:sp>
        <p:nvSpPr>
          <p:cNvPr id="11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a:solidFill>
                  <a:srgbClr val="000000"/>
                </a:solidFill>
                <a:effectLst/>
                <a:uFillTx/>
                <a:latin typeface="Aptos" panose="020B0004020202020204" pitchFamily="34" charset="0"/>
              </a:rPr>
              <a:t>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provides significant advantages for aviation research and analysis applications. The library offers free access to an extensive global dataset of flight information that would otherwise be prohibitively expensive through commercial providers, democratizing aviation data access for researchers, students, and hobbyists. Both real-time and historical data are available, enabling analysis ranging from current flight tracking to long-term trend studies. The API design is clean and intuitive with native pandas </a:t>
            </a:r>
            <a:r>
              <a:rPr lang="en-US" sz="1800" b="0" u="none" strike="noStrike" dirty="0" err="1">
                <a:solidFill>
                  <a:srgbClr val="000000"/>
                </a:solidFill>
                <a:effectLst/>
                <a:uFillTx/>
                <a:latin typeface="Aptos" panose="020B0004020202020204" pitchFamily="34" charset="0"/>
              </a:rPr>
              <a:t>DataFrame</a:t>
            </a:r>
            <a:r>
              <a:rPr lang="en-US" sz="1800" b="0" u="none" strike="noStrike" dirty="0">
                <a:solidFill>
                  <a:srgbClr val="000000"/>
                </a:solidFill>
                <a:effectLst/>
                <a:uFillTx/>
                <a:latin typeface="Aptos" panose="020B0004020202020204" pitchFamily="34" charset="0"/>
              </a:rPr>
              <a:t> integration, and documentation quality is strong with clear examples. However,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presents important limitations. All operations require network connectivity since data must be retrieved from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 servers, making it unsuitable for offline workflows. Authentication with an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 account is mandatory for accessing historical data, and unauthenticated REST API requests face rate limiting. Data quality and coverage depend on geographic distribution of ADS-B receivers, with some regions having sparse coverage resulting in incomplete trajectories. The library is limited to publicly broadcast ADS-B data and cannot access restricted military or government flight information.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noRot="1" noChangeAspect="1"/>
          </p:cNvSpPr>
          <p:nvPr>
            <p:ph type="sldImg"/>
          </p:nvPr>
        </p:nvSpPr>
        <p:spPr>
          <a:xfrm>
            <a:off x="533400" y="763588"/>
            <a:ext cx="6704013" cy="3771900"/>
          </a:xfrm>
          <a:prstGeom prst="rect">
            <a:avLst/>
          </a:prstGeom>
          <a:ln w="0">
            <a:noFill/>
          </a:ln>
        </p:spPr>
      </p:sp>
      <p:sp>
        <p:nvSpPr>
          <p:cNvPr id="1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a:solidFill>
                  <a:srgbClr val="000000"/>
                </a:solidFill>
                <a:effectLst/>
                <a:uFillTx/>
                <a:latin typeface="Aptos" panose="020B0004020202020204" pitchFamily="34" charset="0"/>
              </a:rPr>
              <a:t>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presents a moderate overall security risk profile with a score of 2.25 out of 5.0, primarily due to its network-dependent architecture and authentication requirements. The library makes external API calls to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 servers for all data retrieval operations, introducing network security considerations including potential man-in-the-middle attacks if connections are not properly secured. Users accessing historical data must store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 credentials locally, creating credential management responsibilities and potential exposure if systems are compromised. Network traffic patterns reveal which flights, airports, or geographic regions users are querying, which could constitute sensitive information in certain applications. Despite these considerations,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implements security best practices: the entire codebase is publicly auditable under the LGPL-3.0 license, uses standard HTTPS protocols for encrypted communications, and processes no sensitive data beyond user credentials. The library's moderate dependency footprint reduces supply chain attack surface. Organizations should implement proper credential management, monitor API usage patterns, and ensure network policies allow appropriate </a:t>
            </a:r>
            <a:r>
              <a:rPr lang="en-US" sz="1800" b="0" u="none" strike="noStrike" dirty="0" err="1">
                <a:solidFill>
                  <a:srgbClr val="000000"/>
                </a:solidFill>
                <a:effectLst/>
                <a:uFillTx/>
                <a:latin typeface="Aptos" panose="020B0004020202020204" pitchFamily="34" charset="0"/>
              </a:rPr>
              <a:t>OpenSky</a:t>
            </a:r>
            <a:r>
              <a:rPr lang="en-US" sz="1800" b="0" u="none" strike="noStrike" dirty="0">
                <a:solidFill>
                  <a:srgbClr val="000000"/>
                </a:solidFill>
                <a:effectLst/>
                <a:uFillTx/>
                <a:latin typeface="Aptos" panose="020B0004020202020204" pitchFamily="34" charset="0"/>
              </a:rPr>
              <a:t> Network access.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noRot="1" noChangeAspect="1"/>
          </p:cNvSpPr>
          <p:nvPr>
            <p:ph type="sldImg"/>
          </p:nvPr>
        </p:nvSpPr>
        <p:spPr>
          <a:xfrm>
            <a:off x="533400" y="763588"/>
            <a:ext cx="6704013" cy="3771900"/>
          </a:xfrm>
          <a:prstGeom prst="rect">
            <a:avLst/>
          </a:prstGeom>
          <a:ln w="0">
            <a:noFill/>
          </a:ln>
        </p:spPr>
      </p:sp>
      <p:sp>
        <p:nvSpPr>
          <p:cNvPr id="12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nSpc>
                <a:spcPct val="200000"/>
              </a:lnSpc>
              <a:spcBef>
                <a:spcPts val="1191"/>
              </a:spcBef>
              <a:spcAft>
                <a:spcPts val="992"/>
              </a:spcAft>
              <a:buNone/>
            </a:pPr>
            <a:r>
              <a:rPr lang="en-US" sz="1800" b="0" u="none" strike="noStrike" dirty="0">
                <a:solidFill>
                  <a:srgbClr val="000000"/>
                </a:solidFill>
                <a:effectLst/>
                <a:uFillTx/>
                <a:latin typeface="Aptos" panose="020B0004020202020204" pitchFamily="34" charset="0"/>
              </a:rPr>
              <a:t>          This demonstration showcases </a:t>
            </a:r>
            <a:r>
              <a:rPr lang="en-US" sz="1800" b="0" u="none" strike="noStrike" dirty="0" err="1">
                <a:solidFill>
                  <a:srgbClr val="000000"/>
                </a:solidFill>
                <a:effectLst/>
                <a:uFillTx/>
                <a:latin typeface="Aptos" panose="020B0004020202020204" pitchFamily="34" charset="0"/>
              </a:rPr>
              <a:t>pyopensky's</a:t>
            </a:r>
            <a:r>
              <a:rPr lang="en-US" sz="1800" b="0" u="none" strike="noStrike" dirty="0">
                <a:solidFill>
                  <a:srgbClr val="000000"/>
                </a:solidFill>
                <a:effectLst/>
                <a:uFillTx/>
                <a:latin typeface="Aptos" panose="020B0004020202020204" pitchFamily="34" charset="0"/>
              </a:rPr>
              <a:t> capability to track live aircraft over a specific geographic region and analyze real-time air traffic patterns using a </a:t>
            </a:r>
            <a:r>
              <a:rPr lang="en-US" sz="1800" b="0" u="none" strike="noStrike" dirty="0" err="1">
                <a:solidFill>
                  <a:srgbClr val="000000"/>
                </a:solidFill>
                <a:effectLst/>
                <a:uFillTx/>
                <a:latin typeface="Aptos" panose="020B0004020202020204" pitchFamily="34" charset="0"/>
              </a:rPr>
              <a:t>Jupyter</a:t>
            </a:r>
            <a:r>
              <a:rPr lang="en-US" sz="1800" b="0" u="none" strike="noStrike" dirty="0">
                <a:solidFill>
                  <a:srgbClr val="000000"/>
                </a:solidFill>
                <a:effectLst/>
                <a:uFillTx/>
                <a:latin typeface="Aptos" panose="020B0004020202020204" pitchFamily="34" charset="0"/>
              </a:rPr>
              <a:t> notebook implementation. Installation in PyCharm or any Python environment follows standard package management, requiring only the command pip install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in the terminal. The basic workflow begins by importing the REST API interface and creating a query for current aircraft within specified geographic bounds defined by latitude and longitude coordinates for the Phoenix metropolitan area. The library returns results as structured data that automatically converts to pandas </a:t>
            </a:r>
            <a:r>
              <a:rPr lang="en-US" sz="1800" b="0" u="none" strike="noStrike" dirty="0" err="1">
                <a:solidFill>
                  <a:srgbClr val="000000"/>
                </a:solidFill>
                <a:effectLst/>
                <a:uFillTx/>
                <a:latin typeface="Aptos" panose="020B0004020202020204" pitchFamily="34" charset="0"/>
              </a:rPr>
              <a:t>DataFrames</a:t>
            </a:r>
            <a:r>
              <a:rPr lang="en-US" sz="1800" b="0" u="none" strike="noStrike" dirty="0">
                <a:solidFill>
                  <a:srgbClr val="000000"/>
                </a:solidFill>
                <a:effectLst/>
                <a:uFillTx/>
                <a:latin typeface="Aptos" panose="020B0004020202020204" pitchFamily="34" charset="0"/>
              </a:rPr>
              <a:t>, enabling immediate application of filtering, aggregation, and analysis operations. Retrieved data includes aircraft ICAO24 identifiers, callsigns, positions, altitudes, velocities, and ground status. The demonstration shows eight aircraft detected over Phoenix, with six airborne and two on the ground at Sky Harbor Airport. Statistical analysis reveals average cruising altitude of 11,167 feet and average velocity of 238 knots for airborne aircraft. Users can track specific aircraft by filtering on callsigns, monitor traffic at particular airports, or analyze flight patterns over time by repeatedly querying and storing results, making </a:t>
            </a:r>
            <a:r>
              <a:rPr lang="en-US" sz="1800" b="0" u="none" strike="noStrike" dirty="0" err="1">
                <a:solidFill>
                  <a:srgbClr val="000000"/>
                </a:solidFill>
                <a:effectLst/>
                <a:uFillTx/>
                <a:latin typeface="Aptos" panose="020B0004020202020204" pitchFamily="34" charset="0"/>
              </a:rPr>
              <a:t>pyopensky</a:t>
            </a:r>
            <a:r>
              <a:rPr lang="en-US" sz="1800" b="0" u="none" strike="noStrike" dirty="0">
                <a:solidFill>
                  <a:srgbClr val="000000"/>
                </a:solidFill>
                <a:effectLst/>
                <a:uFillTx/>
                <a:latin typeface="Aptos" panose="020B0004020202020204" pitchFamily="34" charset="0"/>
              </a:rPr>
              <a:t> valuable for applications ranging from aviation education to traffic analysis research.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Over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8" name="PlaceHolder 2"/>
          <p:cNvSpPr>
            <a:spLocks noGrp="1"/>
          </p:cNvSpPr>
          <p:nvPr>
            <p:ph/>
          </p:nvPr>
        </p:nvSpPr>
        <p:spPr>
          <a:xfrm>
            <a:off x="504000" y="1326600"/>
            <a:ext cx="9071640" cy="15681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9" name="PlaceHolder 3"/>
          <p:cNvSpPr>
            <a:spLocks noGrp="1"/>
          </p:cNvSpPr>
          <p:nvPr>
            <p:ph/>
          </p:nvPr>
        </p:nvSpPr>
        <p:spPr>
          <a:xfrm>
            <a:off x="504000" y="3044160"/>
            <a:ext cx="9071640" cy="15681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0882001-CCA7-4DC4-B90B-CB2945C0AC34}" type="slidenum">
              <a:t>‹#›</a:t>
            </a:fld>
            <a:endParaRPr/>
          </a:p>
        </p:txBody>
      </p:sp>
      <p:sp>
        <p:nvSpPr>
          <p:cNvPr id="2" name="PlaceHolder 6"/>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AndTx" preserve="1">
  <p:cSld name="Defaul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11" name="PlaceHolder 2"/>
          <p:cNvSpPr>
            <a:spLocks noGrp="1"/>
          </p:cNvSpPr>
          <p:nvPr>
            <p:ph/>
          </p:nvPr>
        </p:nvSpPr>
        <p:spPr>
          <a:xfrm>
            <a:off x="504000" y="1326600"/>
            <a:ext cx="4426920" cy="15681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12" name="PlaceHolder 3"/>
          <p:cNvSpPr>
            <a:spLocks noGrp="1"/>
          </p:cNvSpPr>
          <p:nvPr>
            <p:ph/>
          </p:nvPr>
        </p:nvSpPr>
        <p:spPr>
          <a:xfrm>
            <a:off x="5152680" y="1326600"/>
            <a:ext cx="4426920" cy="3288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13" name="PlaceHolder 4"/>
          <p:cNvSpPr>
            <a:spLocks noGrp="1"/>
          </p:cNvSpPr>
          <p:nvPr>
            <p:ph/>
          </p:nvPr>
        </p:nvSpPr>
        <p:spPr>
          <a:xfrm>
            <a:off x="504000" y="3044160"/>
            <a:ext cx="4426920" cy="15681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861652D-4E54-4AC8-AAE4-2FFC498C3451}"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faul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15" name="PlaceHolder 2"/>
          <p:cNvSpPr>
            <a:spLocks noGrp="1"/>
          </p:cNvSpPr>
          <p:nvPr>
            <p:ph/>
          </p:nvPr>
        </p:nvSpPr>
        <p:spPr>
          <a:xfrm>
            <a:off x="504000" y="1326600"/>
            <a:ext cx="4426920" cy="3288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16" name="PlaceHolder 3"/>
          <p:cNvSpPr>
            <a:spLocks noGrp="1"/>
          </p:cNvSpPr>
          <p:nvPr>
            <p:ph/>
          </p:nvPr>
        </p:nvSpPr>
        <p:spPr>
          <a:xfrm>
            <a:off x="5152680" y="1326600"/>
            <a:ext cx="4426920" cy="3288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2A29DA20-CFA6-4400-8410-D9EB1DC0DB4F}"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dgm" preserve="1">
  <p:cSld name="Default">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18" name="PlaceHolder 2"/>
          <p:cNvSpPr>
            <a:spLocks noGrp="1"/>
          </p:cNvSpPr>
          <p:nvPr>
            <p:ph/>
          </p:nvPr>
        </p:nvSpPr>
        <p:spPr>
          <a:xfrm>
            <a:off x="504000" y="1326600"/>
            <a:ext cx="9071640" cy="3288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7BA5405B-033F-405C-95FE-53118A3A7F6E}"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reserve="1">
  <p:cSld name="Defaul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20" name="PlaceHolder 2"/>
          <p:cNvSpPr>
            <a:spLocks noGrp="1"/>
          </p:cNvSpPr>
          <p:nvPr>
            <p:ph/>
          </p:nvPr>
        </p:nvSpPr>
        <p:spPr>
          <a:xfrm>
            <a:off x="504000" y="1326600"/>
            <a:ext cx="4426920" cy="328824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21" name="PlaceHolder 3"/>
          <p:cNvSpPr>
            <a:spLocks noGrp="1"/>
          </p:cNvSpPr>
          <p:nvPr>
            <p:ph/>
          </p:nvPr>
        </p:nvSpPr>
        <p:spPr>
          <a:xfrm>
            <a:off x="5152680" y="1326600"/>
            <a:ext cx="4426920" cy="15681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22" name="PlaceHolder 4"/>
          <p:cNvSpPr>
            <a:spLocks noGrp="1"/>
          </p:cNvSpPr>
          <p:nvPr>
            <p:ph/>
          </p:nvPr>
        </p:nvSpPr>
        <p:spPr>
          <a:xfrm>
            <a:off x="5152680" y="3044160"/>
            <a:ext cx="4426920" cy="15681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effectLst/>
              <a:uFillTx/>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793BC01-620C-43CA-8A4F-0F6A9C74109C}"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fld id="{8BF2A0C0-F544-411F-B03B-34F596EDF343}"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youtu.be/eZkRcr2wc7M"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github.com/omniV1/GCU_SWE_2023-2025/blob/main/CST-180-Python/Homework/Presentation/AeroSandbox_Example_F22.ipynb"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hyperlink" Target="https://github.com/omniV1/GCU_SWE_2023-2025/blob/main/CST-180-Python/Homework/Presentation/phoenix_flight_tracker.ipynb" TargetMode="Externa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github.com/open-aviation/pyopensky"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4C7DC"/>
        </a:solidFill>
        <a:effectLst/>
      </p:bgPr>
    </p:bg>
    <p:spTree>
      <p:nvGrpSpPr>
        <p:cNvPr id="1" name=""/>
        <p:cNvGrpSpPr/>
        <p:nvPr/>
      </p:nvGrpSpPr>
      <p:grpSpPr>
        <a:xfrm>
          <a:off x="0" y="0"/>
          <a:ext cx="0" cy="0"/>
          <a:chOff x="0" y="0"/>
          <a:chExt cx="0" cy="0"/>
        </a:xfrm>
      </p:grpSpPr>
      <p:pic>
        <p:nvPicPr>
          <p:cNvPr id="29" name="Picture 28"/>
          <p:cNvPicPr/>
          <p:nvPr/>
        </p:nvPicPr>
        <p:blipFill>
          <a:blip r:embed="rId3">
            <a:alphaModFix amt="20000"/>
          </a:blip>
          <a:stretch/>
        </p:blipFill>
        <p:spPr>
          <a:xfrm>
            <a:off x="0" y="0"/>
            <a:ext cx="10058400" cy="5669640"/>
          </a:xfrm>
          <a:prstGeom prst="rect">
            <a:avLst/>
          </a:prstGeom>
          <a:noFill/>
          <a:ln w="0">
            <a:noFill/>
          </a:ln>
        </p:spPr>
      </p:pic>
      <p:sp>
        <p:nvSpPr>
          <p:cNvPr id="30" name="PlaceHolder 1"/>
          <p:cNvSpPr>
            <a:spLocks noGrp="1"/>
          </p:cNvSpPr>
          <p:nvPr>
            <p:ph type="title"/>
          </p:nvPr>
        </p:nvSpPr>
        <p:spPr>
          <a:xfrm>
            <a:off x="457200" y="228600"/>
            <a:ext cx="9071640" cy="946440"/>
          </a:xfrm>
          <a:prstGeom prst="rect">
            <a:avLst/>
          </a:prstGeom>
          <a:noFill/>
          <a:ln w="0">
            <a:noFill/>
          </a:ln>
        </p:spPr>
        <p:txBody>
          <a:bodyPr lIns="0" tIns="0" rIns="0" bIns="0" anchor="ctr">
            <a:spAutoFit/>
          </a:bodyPr>
          <a:lstStyle/>
          <a:p>
            <a:pPr indent="0" algn="ctr">
              <a:spcBef>
                <a:spcPts val="1191"/>
              </a:spcBef>
              <a:spcAft>
                <a:spcPts val="992"/>
              </a:spcAft>
              <a:buNone/>
            </a:pPr>
            <a:r>
              <a:rPr lang="en-US" sz="3600" b="0" u="none" strike="noStrike">
                <a:solidFill>
                  <a:srgbClr val="000000"/>
                </a:solidFill>
                <a:effectLst/>
                <a:uFillTx/>
                <a:latin typeface="Arial"/>
              </a:rPr>
              <a:t>Aviation Software Development with Python</a:t>
            </a:r>
          </a:p>
        </p:txBody>
      </p:sp>
      <p:sp>
        <p:nvSpPr>
          <p:cNvPr id="31" name="PlaceHolder 2"/>
          <p:cNvSpPr>
            <a:spLocks noGrp="1"/>
          </p:cNvSpPr>
          <p:nvPr>
            <p:ph/>
          </p:nvPr>
        </p:nvSpPr>
        <p:spPr>
          <a:xfrm>
            <a:off x="685800" y="1783800"/>
            <a:ext cx="4426920" cy="2331000"/>
          </a:xfrm>
          <a:prstGeom prst="rect">
            <a:avLst/>
          </a:prstGeom>
          <a:noFill/>
          <a:ln w="0">
            <a:noFill/>
          </a:ln>
        </p:spPr>
        <p:txBody>
          <a:bodyPr lIns="0" tIns="0" rIns="0" bIns="0" anchor="t">
            <a:normAutofit fontScale="85000" lnSpcReduction="19999"/>
          </a:bodyPr>
          <a:lstStyle/>
          <a:p>
            <a:pPr marL="432000" indent="0">
              <a:spcBef>
                <a:spcPts val="1417"/>
              </a:spcBef>
              <a:buNone/>
            </a:pPr>
            <a:r>
              <a:rPr lang="en-US" sz="2000" b="0" u="none" strike="noStrike">
                <a:solidFill>
                  <a:srgbClr val="000000"/>
                </a:solidFill>
                <a:effectLst/>
                <a:uFillTx/>
                <a:latin typeface="JetBrainsMono NF Medium"/>
              </a:rPr>
              <a:t>IT focus:</a:t>
            </a:r>
            <a:endParaRPr lang="en-US" sz="2000" b="0" u="none" strike="noStrike">
              <a:solidFill>
                <a:srgbClr val="000000"/>
              </a:solidFill>
              <a:effectLst/>
              <a:uFillTx/>
              <a:latin typeface="Arial"/>
            </a:endParaRPr>
          </a:p>
          <a:p>
            <a:pPr marL="432000" indent="0">
              <a:spcBef>
                <a:spcPts val="1417"/>
              </a:spcBef>
              <a:buNone/>
            </a:pPr>
            <a:r>
              <a:rPr lang="en-US" sz="2000" b="0" u="none" strike="noStrike">
                <a:solidFill>
                  <a:srgbClr val="000000"/>
                </a:solidFill>
                <a:effectLst/>
                <a:uFillTx/>
                <a:latin typeface="JetBrainsMono NF Medium"/>
              </a:rPr>
              <a:t>Software Developement</a:t>
            </a:r>
            <a:endParaRPr lang="en-US" sz="2000" b="0" u="none" strike="noStrike">
              <a:solidFill>
                <a:srgbClr val="000000"/>
              </a:solidFill>
              <a:effectLst/>
              <a:uFillTx/>
              <a:latin typeface="Arial"/>
            </a:endParaRPr>
          </a:p>
          <a:p>
            <a:pPr marL="432000" indent="0">
              <a:spcBef>
                <a:spcPts val="1417"/>
              </a:spcBef>
              <a:buNone/>
            </a:pPr>
            <a:endParaRPr lang="en-US" sz="2000" b="0" u="none" strike="noStrike">
              <a:solidFill>
                <a:srgbClr val="000000"/>
              </a:solidFill>
              <a:effectLst/>
              <a:uFillTx/>
              <a:latin typeface="Arial"/>
            </a:endParaRPr>
          </a:p>
          <a:p>
            <a:pPr marL="432000" indent="0">
              <a:spcBef>
                <a:spcPts val="1417"/>
              </a:spcBef>
              <a:buNone/>
            </a:pPr>
            <a:r>
              <a:rPr lang="en-US" sz="2000" b="0" u="none" strike="noStrike">
                <a:solidFill>
                  <a:srgbClr val="000000"/>
                </a:solidFill>
                <a:effectLst/>
                <a:uFillTx/>
                <a:latin typeface="JetBrainsMono NF"/>
              </a:rPr>
              <a:t>Live presentation link</a:t>
            </a:r>
            <a:endParaRPr lang="en-US" sz="2000" b="0" u="none" strike="noStrike">
              <a:solidFill>
                <a:srgbClr val="000000"/>
              </a:solidFill>
              <a:effectLst/>
              <a:uFillTx/>
              <a:latin typeface="Arial"/>
            </a:endParaRPr>
          </a:p>
          <a:p>
            <a:pPr marL="432000" indent="0">
              <a:spcBef>
                <a:spcPts val="1417"/>
              </a:spcBef>
              <a:buNone/>
            </a:pPr>
            <a:r>
              <a:rPr lang="en-US" sz="2000" b="0" u="none" strike="noStrike">
                <a:solidFill>
                  <a:srgbClr val="000000"/>
                </a:solidFill>
                <a:effectLst/>
                <a:uFillTx/>
                <a:latin typeface="JetBrainsMono NF"/>
              </a:rPr>
              <a:t> </a:t>
            </a:r>
            <a:endParaRPr lang="en-US" sz="2000" b="0" u="none" strike="noStrike">
              <a:solidFill>
                <a:srgbClr val="000000"/>
              </a:solidFill>
              <a:effectLst/>
              <a:uFillTx/>
              <a:latin typeface="Arial"/>
            </a:endParaRPr>
          </a:p>
          <a:p>
            <a:pPr marL="432000" indent="0">
              <a:spcBef>
                <a:spcPts val="1417"/>
              </a:spcBef>
              <a:buNone/>
            </a:pPr>
            <a:r>
              <a:rPr lang="en-US" sz="2000" b="0" u="none" strike="noStrike">
                <a:solidFill>
                  <a:srgbClr val="000000"/>
                </a:solidFill>
                <a:effectLst/>
                <a:uFillTx/>
                <a:latin typeface="JetBrainsMono NF"/>
                <a:hlinkClick r:id="rId4"/>
              </a:rPr>
              <a:t>Click Here</a:t>
            </a:r>
            <a:endParaRPr lang="en-US" sz="2000" b="0" u="none" strike="noStrike">
              <a:solidFill>
                <a:srgbClr val="000000"/>
              </a:solidFill>
              <a:effectLst/>
              <a:uFillTx/>
              <a:latin typeface="Arial"/>
            </a:endParaRPr>
          </a:p>
        </p:txBody>
      </p:sp>
      <p:sp>
        <p:nvSpPr>
          <p:cNvPr id="32" name="PlaceHolder 3"/>
          <p:cNvSpPr>
            <a:spLocks noGrp="1"/>
          </p:cNvSpPr>
          <p:nvPr>
            <p:ph/>
          </p:nvPr>
        </p:nvSpPr>
        <p:spPr>
          <a:xfrm rot="4200">
            <a:off x="5652000" y="1828440"/>
            <a:ext cx="4426920" cy="1597680"/>
          </a:xfrm>
          <a:prstGeom prst="rect">
            <a:avLst/>
          </a:prstGeom>
          <a:noFill/>
          <a:ln w="0">
            <a:noFill/>
          </a:ln>
        </p:spPr>
        <p:txBody>
          <a:bodyPr lIns="0" tIns="0" rIns="0" bIns="0" anchor="t">
            <a:normAutofit/>
          </a:bodyPr>
          <a:lstStyle/>
          <a:p>
            <a:pPr marL="432000" indent="0">
              <a:spcBef>
                <a:spcPts val="1417"/>
              </a:spcBef>
              <a:buNone/>
            </a:pPr>
            <a:r>
              <a:rPr lang="en-US" sz="3200" b="0" u="none" strike="noStrike">
                <a:solidFill>
                  <a:srgbClr val="000000"/>
                </a:solidFill>
                <a:effectLst/>
                <a:uFillTx/>
                <a:latin typeface="JetBrainsMono NF SemiBold"/>
              </a:rPr>
              <a:t>AeroSandBox	</a:t>
            </a:r>
            <a:endParaRPr lang="en-US" sz="3200" b="0" u="none" strike="noStrike">
              <a:solidFill>
                <a:srgbClr val="000000"/>
              </a:solidFill>
              <a:effectLst/>
              <a:uFillTx/>
              <a:latin typeface="Arial"/>
            </a:endParaRPr>
          </a:p>
          <a:p>
            <a:pPr marL="432000" indent="0">
              <a:spcBef>
                <a:spcPts val="1417"/>
              </a:spcBef>
              <a:buNone/>
            </a:pPr>
            <a:r>
              <a:rPr lang="en-US" sz="3200" b="0" u="none" strike="noStrike">
                <a:solidFill>
                  <a:srgbClr val="000000"/>
                </a:solidFill>
                <a:effectLst/>
                <a:uFillTx/>
                <a:latin typeface="JetBrainsMono NF SemiBold"/>
              </a:rPr>
              <a:t>pyopensky</a:t>
            </a:r>
            <a:endParaRPr lang="en-US" sz="3200" b="0" u="none" strike="noStrike">
              <a:solidFill>
                <a:srgbClr val="000000"/>
              </a:solidFill>
              <a:effectLst/>
              <a:uFillTx/>
              <a:latin typeface="Arial"/>
            </a:endParaRPr>
          </a:p>
          <a:p>
            <a:pPr marL="432000" indent="0">
              <a:spcBef>
                <a:spcPts val="1417"/>
              </a:spcBef>
              <a:buNone/>
            </a:pPr>
            <a:endParaRPr lang="en-US" sz="3200" b="0" u="none" strike="noStrike">
              <a:solidFill>
                <a:srgbClr val="000000"/>
              </a:solidFill>
              <a:effectLst/>
              <a:uFillTx/>
              <a:latin typeface="Arial"/>
            </a:endParaRPr>
          </a:p>
          <a:p>
            <a:pPr marL="432000" indent="0">
              <a:spcBef>
                <a:spcPts val="1417"/>
              </a:spcBef>
              <a:buNone/>
            </a:pPr>
            <a:endParaRPr lang="en-US" sz="3200" b="0" u="none" strike="noStrike">
              <a:solidFill>
                <a:srgbClr val="000000"/>
              </a:solidFill>
              <a:effectLst/>
              <a:uFillTx/>
              <a:latin typeface="Arial"/>
            </a:endParaRPr>
          </a:p>
        </p:txBody>
      </p:sp>
      <p:sp>
        <p:nvSpPr>
          <p:cNvPr id="33" name="Straight Connector 32"/>
          <p:cNvSpPr/>
          <p:nvPr/>
        </p:nvSpPr>
        <p:spPr>
          <a:xfrm>
            <a:off x="1143000" y="2057400"/>
            <a:ext cx="3200400" cy="0"/>
          </a:xfrm>
          <a:prstGeom prst="line">
            <a:avLst/>
          </a:prstGeom>
          <a:ln w="38160">
            <a:solidFill>
              <a:srgbClr val="999999"/>
            </a:solidFill>
            <a:round/>
          </a:ln>
        </p:spPr>
        <p:style>
          <a:lnRef idx="0">
            <a:scrgbClr r="0" g="0" b="0"/>
          </a:lnRef>
          <a:fillRef idx="0">
            <a:scrgbClr r="0" g="0" b="0"/>
          </a:fillRef>
          <a:effectRef idx="0">
            <a:scrgbClr r="0" g="0" b="0"/>
          </a:effectRef>
          <a:fontRef idx="minor"/>
        </p:style>
        <p:txBody>
          <a:bodyPr lIns="109080" tIns="-64080" rIns="109080" bIns="-64080" anchor="ctr">
            <a:noAutofit/>
          </a:bodyPr>
          <a:lstStyle/>
          <a:p>
            <a:endParaRPr lang="en-US" sz="1800" b="0" u="none" strike="noStrike">
              <a:solidFill>
                <a:srgbClr val="000000"/>
              </a:solidFill>
              <a:effectLst/>
              <a:uFillTx/>
              <a:latin typeface="Arial"/>
            </a:endParaRPr>
          </a:p>
        </p:txBody>
      </p:sp>
      <p:sp>
        <p:nvSpPr>
          <p:cNvPr id="34" name="Rectangle 33"/>
          <p:cNvSpPr/>
          <p:nvPr/>
        </p:nvSpPr>
        <p:spPr>
          <a:xfrm>
            <a:off x="3429000" y="4114800"/>
            <a:ext cx="3429000" cy="914400"/>
          </a:xfrm>
          <a:prstGeom prst="rect">
            <a:avLst/>
          </a:prstGeom>
          <a:noFill/>
          <a:ln w="0">
            <a:solidFill>
              <a:srgbClr val="FFFFFF">
                <a:alpha val="0"/>
              </a:srgbClr>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en-US" sz="1800" b="0" u="none" strike="noStrike">
                <a:solidFill>
                  <a:srgbClr val="000000"/>
                </a:solidFill>
                <a:effectLst/>
                <a:uFillTx/>
                <a:latin typeface="JetBrainsMono NF SemiBold"/>
              </a:rPr>
              <a:t>Owen Lindsey</a:t>
            </a:r>
          </a:p>
          <a:p>
            <a:pPr algn="ctr"/>
            <a:r>
              <a:rPr lang="en-US" sz="1800" b="0" u="none" strike="noStrike">
                <a:solidFill>
                  <a:srgbClr val="000000"/>
                </a:solidFill>
                <a:effectLst/>
                <a:uFillTx/>
                <a:latin typeface="JetBrainsMono NF SemiBold"/>
              </a:rPr>
              <a:t>CST-180 Python</a:t>
            </a:r>
          </a:p>
          <a:p>
            <a:pPr algn="ctr"/>
            <a:r>
              <a:rPr lang="en-US" sz="1800" b="0" u="none" strike="noStrike">
                <a:solidFill>
                  <a:srgbClr val="000000"/>
                </a:solidFill>
                <a:effectLst/>
                <a:uFillTx/>
                <a:latin typeface="JetBrainsMono NF SemiBold"/>
              </a:rPr>
              <a:t>Dec 14 2025</a:t>
            </a:r>
          </a:p>
        </p:txBody>
      </p:sp>
      <p:sp>
        <p:nvSpPr>
          <p:cNvPr id="35" name="Straight Connector 34"/>
          <p:cNvSpPr/>
          <p:nvPr/>
        </p:nvSpPr>
        <p:spPr>
          <a:xfrm>
            <a:off x="1143000" y="3200400"/>
            <a:ext cx="3200400" cy="0"/>
          </a:xfrm>
          <a:prstGeom prst="line">
            <a:avLst/>
          </a:prstGeom>
          <a:ln w="38160">
            <a:solidFill>
              <a:srgbClr val="999999"/>
            </a:solidFill>
            <a:round/>
          </a:ln>
        </p:spPr>
        <p:style>
          <a:lnRef idx="0">
            <a:scrgbClr r="0" g="0" b="0"/>
          </a:lnRef>
          <a:fillRef idx="0">
            <a:scrgbClr r="0" g="0" b="0"/>
          </a:fillRef>
          <a:effectRef idx="0">
            <a:scrgbClr r="0" g="0" b="0"/>
          </a:effectRef>
          <a:fontRef idx="minor"/>
        </p:style>
        <p:txBody>
          <a:bodyPr lIns="109080" tIns="-64080" rIns="109080" bIns="-64080" anchor="ctr">
            <a:noAutofit/>
          </a:bodyPr>
          <a:lstStyle/>
          <a:p>
            <a:endParaRPr lang="en-US" sz="1800" b="0" u="none" strike="noStrike">
              <a:solidFill>
                <a:srgbClr val="000000"/>
              </a:solidFill>
              <a:effectLst/>
              <a:uFillTx/>
              <a:latin typeface="Arial"/>
            </a:endParaRPr>
          </a:p>
        </p:txBody>
      </p:sp>
      <p:sp>
        <p:nvSpPr>
          <p:cNvPr id="36" name="Straight Connector 35"/>
          <p:cNvSpPr/>
          <p:nvPr/>
        </p:nvSpPr>
        <p:spPr>
          <a:xfrm>
            <a:off x="1143000" y="2057400"/>
            <a:ext cx="3200400" cy="0"/>
          </a:xfrm>
          <a:prstGeom prst="line">
            <a:avLst/>
          </a:prstGeom>
          <a:ln w="38160">
            <a:solidFill>
              <a:srgbClr val="999999"/>
            </a:solidFill>
            <a:round/>
          </a:ln>
        </p:spPr>
        <p:style>
          <a:lnRef idx="0">
            <a:scrgbClr r="0" g="0" b="0"/>
          </a:lnRef>
          <a:fillRef idx="0">
            <a:scrgbClr r="0" g="0" b="0"/>
          </a:fillRef>
          <a:effectRef idx="0">
            <a:scrgbClr r="0" g="0" b="0"/>
          </a:effectRef>
          <a:fontRef idx="minor"/>
        </p:style>
        <p:txBody>
          <a:bodyPr lIns="109080" tIns="-64080" rIns="109080" bIns="-64080" anchor="ctr">
            <a:noAutofit/>
          </a:bodyPr>
          <a:lstStyle/>
          <a:p>
            <a:endParaRPr lang="en-US" sz="18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p:cNvPicPr/>
          <p:nvPr/>
        </p:nvPicPr>
        <p:blipFill>
          <a:blip r:embed="rId3"/>
          <a:stretch/>
        </p:blipFill>
        <p:spPr>
          <a:xfrm>
            <a:off x="7086600" y="1326600"/>
            <a:ext cx="1942920" cy="2514600"/>
          </a:xfrm>
          <a:prstGeom prst="rect">
            <a:avLst/>
          </a:prstGeom>
          <a:noFill/>
          <a:ln w="0">
            <a:noFill/>
          </a:ln>
        </p:spPr>
      </p:pic>
      <p:pic>
        <p:nvPicPr>
          <p:cNvPr id="38" name="Picture 37"/>
          <p:cNvPicPr/>
          <p:nvPr/>
        </p:nvPicPr>
        <p:blipFill>
          <a:blip r:embed="rId4">
            <a:alphaModFix amt="20000"/>
          </a:blip>
          <a:stretch/>
        </p:blipFill>
        <p:spPr>
          <a:xfrm>
            <a:off x="0" y="360"/>
            <a:ext cx="10058400" cy="5669640"/>
          </a:xfrm>
          <a:prstGeom prst="rect">
            <a:avLst/>
          </a:prstGeom>
          <a:noFill/>
          <a:ln w="0">
            <a:noFill/>
          </a:ln>
        </p:spPr>
      </p:pic>
      <p:sp>
        <p:nvSpPr>
          <p:cNvPr id="39"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What does AeroSandBox do?</a:t>
            </a:r>
          </a:p>
        </p:txBody>
      </p:sp>
      <p:sp>
        <p:nvSpPr>
          <p:cNvPr id="40" name="PlaceHolder 2"/>
          <p:cNvSpPr>
            <a:spLocks noGrp="1"/>
          </p:cNvSpPr>
          <p:nvPr>
            <p:ph/>
          </p:nvPr>
        </p:nvSpPr>
        <p:spPr>
          <a:xfrm>
            <a:off x="504000" y="1326600"/>
            <a:ext cx="2920680" cy="1568160"/>
          </a:xfrm>
          <a:prstGeom prst="rect">
            <a:avLst/>
          </a:prstGeom>
          <a:noFill/>
          <a:ln w="0">
            <a:noFill/>
          </a:ln>
        </p:spPr>
        <p:txBody>
          <a:bodyPr lIns="0" tIns="0" rIns="0" bIns="0" anchor="t">
            <a:normAutofit/>
          </a:bodyPr>
          <a:lstStyle/>
          <a:p>
            <a:pPr marL="432000" indent="0">
              <a:spcBef>
                <a:spcPts val="1417"/>
              </a:spcBef>
              <a:buNone/>
            </a:pPr>
            <a:r>
              <a:rPr lang="en-US" sz="1500" b="0" u="none" strike="noStrike">
                <a:solidFill>
                  <a:srgbClr val="000000"/>
                </a:solidFill>
                <a:effectLst/>
                <a:uFillTx/>
                <a:latin typeface="Arial"/>
              </a:rPr>
              <a:t>Aircraft design optimization</a:t>
            </a:r>
          </a:p>
        </p:txBody>
      </p:sp>
      <p:sp>
        <p:nvSpPr>
          <p:cNvPr id="41" name="PlaceHolder 3"/>
          <p:cNvSpPr>
            <a:spLocks noGrp="1"/>
          </p:cNvSpPr>
          <p:nvPr>
            <p:ph/>
          </p:nvPr>
        </p:nvSpPr>
        <p:spPr>
          <a:xfrm>
            <a:off x="3571200" y="1326600"/>
            <a:ext cx="2920680" cy="1568160"/>
          </a:xfrm>
          <a:prstGeom prst="rect">
            <a:avLst/>
          </a:prstGeom>
          <a:noFill/>
          <a:ln w="0">
            <a:noFill/>
          </a:ln>
        </p:spPr>
        <p:txBody>
          <a:bodyPr lIns="0" tIns="0" rIns="0" bIns="0" anchor="t">
            <a:normAutofit/>
          </a:bodyPr>
          <a:lstStyle/>
          <a:p>
            <a:pPr marL="432000" indent="0">
              <a:spcBef>
                <a:spcPts val="1417"/>
              </a:spcBef>
              <a:buNone/>
            </a:pPr>
            <a:r>
              <a:rPr lang="en-US" sz="1500" b="0" u="none" strike="noStrike">
                <a:solidFill>
                  <a:srgbClr val="000000"/>
                </a:solidFill>
                <a:effectLst/>
                <a:uFillTx/>
                <a:latin typeface="Arial"/>
              </a:rPr>
              <a:t>Integrates CAD tools via STEP	</a:t>
            </a:r>
          </a:p>
        </p:txBody>
      </p:sp>
      <p:sp>
        <p:nvSpPr>
          <p:cNvPr id="42" name="PlaceHolder 4"/>
          <p:cNvSpPr>
            <a:spLocks noGrp="1"/>
          </p:cNvSpPr>
          <p:nvPr>
            <p:ph/>
          </p:nvPr>
        </p:nvSpPr>
        <p:spPr>
          <a:xfrm>
            <a:off x="6680520" y="1403640"/>
            <a:ext cx="2920680" cy="1568160"/>
          </a:xfrm>
          <a:prstGeom prst="rect">
            <a:avLst/>
          </a:prstGeom>
          <a:noFill/>
          <a:ln w="0">
            <a:noFill/>
          </a:ln>
        </p:spPr>
        <p:txBody>
          <a:bodyPr lIns="0" tIns="0" rIns="0" bIns="0" anchor="t">
            <a:normAutofit/>
          </a:bodyPr>
          <a:lstStyle/>
          <a:p>
            <a:pPr marL="432000" indent="0">
              <a:spcBef>
                <a:spcPts val="1417"/>
              </a:spcBef>
              <a:buNone/>
            </a:pPr>
            <a:r>
              <a:rPr lang="en-US" sz="1500" b="0" u="none" strike="noStrike">
                <a:solidFill>
                  <a:srgbClr val="000000"/>
                </a:solidFill>
                <a:effectLst/>
                <a:uFillTx/>
                <a:latin typeface="Arial"/>
              </a:rPr>
              <a:t>Supports projects from concept to design phases. </a:t>
            </a:r>
          </a:p>
        </p:txBody>
      </p:sp>
      <p:sp>
        <p:nvSpPr>
          <p:cNvPr id="43" name="PlaceHolder 5"/>
          <p:cNvSpPr>
            <a:spLocks noGrp="1"/>
          </p:cNvSpPr>
          <p:nvPr>
            <p:ph/>
          </p:nvPr>
        </p:nvSpPr>
        <p:spPr>
          <a:xfrm>
            <a:off x="228600" y="3232440"/>
            <a:ext cx="31492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1500" b="0" u="none" strike="noStrike">
                <a:solidFill>
                  <a:srgbClr val="000000"/>
                </a:solidFill>
                <a:effectLst/>
                <a:uFillTx/>
                <a:latin typeface="Arial"/>
              </a:rPr>
              <a:t>Analysis tools </a:t>
            </a:r>
          </a:p>
        </p:txBody>
      </p:sp>
      <p:sp>
        <p:nvSpPr>
          <p:cNvPr id="44" name="PlaceHolder 6"/>
          <p:cNvSpPr>
            <a:spLocks noGrp="1"/>
          </p:cNvSpPr>
          <p:nvPr>
            <p:ph/>
          </p:nvPr>
        </p:nvSpPr>
        <p:spPr>
          <a:xfrm>
            <a:off x="3708720" y="3232440"/>
            <a:ext cx="2920680" cy="1568160"/>
          </a:xfrm>
          <a:prstGeom prst="rect">
            <a:avLst/>
          </a:prstGeom>
          <a:noFill/>
          <a:ln w="0">
            <a:noFill/>
          </a:ln>
        </p:spPr>
        <p:txBody>
          <a:bodyPr lIns="0" tIns="0" rIns="0" bIns="0" anchor="t">
            <a:normAutofit/>
          </a:bodyPr>
          <a:lstStyle/>
          <a:p>
            <a:pPr marL="432000" indent="0">
              <a:spcBef>
                <a:spcPts val="1417"/>
              </a:spcBef>
              <a:buNone/>
            </a:pPr>
            <a:r>
              <a:rPr lang="en-US" sz="2000" b="0" u="none" strike="noStrike">
                <a:solidFill>
                  <a:srgbClr val="000000"/>
                </a:solidFill>
                <a:effectLst/>
                <a:uFillTx/>
                <a:latin typeface="Arial"/>
              </a:rPr>
              <a:t>Open source and actively maintated </a:t>
            </a:r>
          </a:p>
        </p:txBody>
      </p:sp>
      <p:pic>
        <p:nvPicPr>
          <p:cNvPr id="45" name="Picture 44"/>
          <p:cNvPicPr/>
          <p:nvPr/>
        </p:nvPicPr>
        <p:blipFill>
          <a:blip r:embed="rId5"/>
          <a:stretch/>
        </p:blipFill>
        <p:spPr>
          <a:xfrm>
            <a:off x="4145760" y="1933200"/>
            <a:ext cx="1775160" cy="999360"/>
          </a:xfrm>
          <a:prstGeom prst="rect">
            <a:avLst/>
          </a:prstGeom>
          <a:noFill/>
          <a:ln w="0">
            <a:noFill/>
          </a:ln>
        </p:spPr>
      </p:pic>
      <p:sp>
        <p:nvSpPr>
          <p:cNvPr id="46" name="PlaceHolder 7"/>
          <p:cNvSpPr>
            <a:spLocks noGrp="1"/>
          </p:cNvSpPr>
          <p:nvPr>
            <p:ph/>
          </p:nvPr>
        </p:nvSpPr>
        <p:spPr>
          <a:xfrm>
            <a:off x="6629400" y="3200400"/>
            <a:ext cx="29206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2000" b="0" u="none" strike="noStrike">
                <a:solidFill>
                  <a:srgbClr val="000000"/>
                </a:solidFill>
                <a:effectLst/>
                <a:uFillTx/>
                <a:latin typeface="Arial"/>
              </a:rPr>
              <a:t>Handles design problems with thousands of variables</a:t>
            </a:r>
          </a:p>
        </p:txBody>
      </p:sp>
      <p:pic>
        <p:nvPicPr>
          <p:cNvPr id="47" name="Picture 46"/>
          <p:cNvPicPr/>
          <p:nvPr/>
        </p:nvPicPr>
        <p:blipFill>
          <a:blip r:embed="rId6"/>
          <a:stretch/>
        </p:blipFill>
        <p:spPr>
          <a:xfrm rot="5439600">
            <a:off x="1365120" y="1588320"/>
            <a:ext cx="1225080" cy="1600200"/>
          </a:xfrm>
          <a:prstGeom prst="rect">
            <a:avLst/>
          </a:prstGeom>
          <a:noFill/>
          <a:ln w="0">
            <a:noFill/>
          </a:ln>
        </p:spPr>
      </p:pic>
      <p:pic>
        <p:nvPicPr>
          <p:cNvPr id="48" name="Picture 47"/>
          <p:cNvPicPr/>
          <p:nvPr/>
        </p:nvPicPr>
        <p:blipFill>
          <a:blip r:embed="rId7"/>
          <a:stretch/>
        </p:blipFill>
        <p:spPr>
          <a:xfrm>
            <a:off x="341280" y="3579840"/>
            <a:ext cx="2318760" cy="1751760"/>
          </a:xfrm>
          <a:prstGeom prst="rect">
            <a:avLst/>
          </a:prstGeom>
          <a:noFill/>
          <a:ln w="0">
            <a:noFill/>
          </a:ln>
        </p:spPr>
      </p:pic>
      <p:pic>
        <p:nvPicPr>
          <p:cNvPr id="49" name="Picture 48"/>
          <p:cNvPicPr/>
          <p:nvPr/>
        </p:nvPicPr>
        <p:blipFill>
          <a:blip r:embed="rId8"/>
          <a:stretch/>
        </p:blipFill>
        <p:spPr>
          <a:xfrm>
            <a:off x="3219840" y="5124960"/>
            <a:ext cx="6381360" cy="361440"/>
          </a:xfrm>
          <a:prstGeom prst="rect">
            <a:avLst/>
          </a:prstGeom>
          <a:noFill/>
          <a:ln w="0">
            <a:noFill/>
          </a:ln>
        </p:spPr>
      </p:pic>
      <p:pic>
        <p:nvPicPr>
          <p:cNvPr id="50" name="Graphic 49"/>
          <p:cNvPicPr/>
          <p:nvPr/>
        </p:nvPicPr>
        <p:blipFill>
          <a:blip r:embed="rId9">
            <a:extLst>
              <a:ext uri="{96DAC541-7B7A-43D3-8B79-37D633B846F1}">
                <asvg:svgBlip xmlns:asvg="http://schemas.microsoft.com/office/drawing/2016/SVG/main" r:embed="rId10"/>
              </a:ext>
            </a:extLst>
          </a:blip>
          <a:stretch/>
        </p:blipFill>
        <p:spPr>
          <a:xfrm>
            <a:off x="4473720" y="3886200"/>
            <a:ext cx="1469880" cy="9745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pic>
        <p:nvPicPr>
          <p:cNvPr id="51" name="Picture 50"/>
          <p:cNvPicPr/>
          <p:nvPr/>
        </p:nvPicPr>
        <p:blipFill>
          <a:blip r:embed="rId3">
            <a:alphaModFix amt="30000"/>
          </a:blip>
          <a:stretch/>
        </p:blipFill>
        <p:spPr>
          <a:xfrm>
            <a:off x="-9360" y="1815120"/>
            <a:ext cx="10086480" cy="3900240"/>
          </a:xfrm>
          <a:prstGeom prst="rect">
            <a:avLst/>
          </a:prstGeom>
          <a:noFill/>
          <a:ln w="0">
            <a:noFill/>
          </a:ln>
        </p:spPr>
      </p:pic>
      <p:sp>
        <p:nvSpPr>
          <p:cNvPr id="52"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FFFFFF"/>
                </a:solidFill>
                <a:effectLst/>
                <a:uFillTx/>
                <a:latin typeface="Arial"/>
              </a:rPr>
              <a:t>Advantages and Disadvantages</a:t>
            </a:r>
          </a:p>
        </p:txBody>
      </p:sp>
      <p:sp>
        <p:nvSpPr>
          <p:cNvPr id="53" name="PlaceHolder 2"/>
          <p:cNvSpPr>
            <a:spLocks noGrp="1"/>
          </p:cNvSpPr>
          <p:nvPr>
            <p:ph/>
          </p:nvPr>
        </p:nvSpPr>
        <p:spPr>
          <a:xfrm>
            <a:off x="323640" y="1382760"/>
            <a:ext cx="4426920" cy="3288240"/>
          </a:xfrm>
          <a:prstGeom prst="rect">
            <a:avLst/>
          </a:prstGeom>
          <a:noFill/>
          <a:ln w="0">
            <a:noFill/>
          </a:ln>
        </p:spPr>
        <p:txBody>
          <a:bodyPr lIns="0" tIns="0" rIns="0" bIns="0" anchor="t">
            <a:normAutofit/>
          </a:bodyPr>
          <a:lstStyle/>
          <a:p>
            <a:pPr marL="432000" indent="0">
              <a:spcBef>
                <a:spcPts val="1417"/>
              </a:spcBef>
              <a:buNone/>
            </a:pPr>
            <a:r>
              <a:rPr lang="en-US" sz="3200" b="0" u="none" strike="noStrike">
                <a:solidFill>
                  <a:srgbClr val="FFFFFF"/>
                </a:solidFill>
                <a:effectLst/>
                <a:uFillTx/>
                <a:latin typeface="Arial"/>
              </a:rPr>
              <a:t>Pros</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Comprehensive aerospace physics models included</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Strong documentation with extensive tutorials</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Pythonic syntax familiar to data scientists</a:t>
            </a:r>
          </a:p>
        </p:txBody>
      </p:sp>
      <p:sp>
        <p:nvSpPr>
          <p:cNvPr id="54" name="PlaceHolder 3"/>
          <p:cNvSpPr>
            <a:spLocks noGrp="1"/>
          </p:cNvSpPr>
          <p:nvPr>
            <p:ph/>
          </p:nvPr>
        </p:nvSpPr>
        <p:spPr>
          <a:xfrm>
            <a:off x="5152680" y="1326600"/>
            <a:ext cx="4426920" cy="3288240"/>
          </a:xfrm>
          <a:prstGeom prst="rect">
            <a:avLst/>
          </a:prstGeom>
          <a:noFill/>
          <a:ln w="0">
            <a:noFill/>
          </a:ln>
        </p:spPr>
        <p:txBody>
          <a:bodyPr lIns="0" tIns="0" rIns="0" bIns="0" anchor="t">
            <a:normAutofit/>
          </a:bodyPr>
          <a:lstStyle/>
          <a:p>
            <a:pPr marL="432000" indent="0">
              <a:spcBef>
                <a:spcPts val="1417"/>
              </a:spcBef>
              <a:buNone/>
            </a:pPr>
            <a:r>
              <a:rPr lang="en-US" sz="3200" b="0" u="none" strike="noStrike">
                <a:solidFill>
                  <a:srgbClr val="FFFFFF"/>
                </a:solidFill>
                <a:effectLst/>
                <a:uFillTx/>
                <a:latin typeface="Arial"/>
              </a:rPr>
              <a:t>Cons</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Steep learning curve for optimization concepts</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Limited to preliminary/conceptual design phase</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Requires understanding of aerospace fundamentals</a:t>
            </a:r>
          </a:p>
        </p:txBody>
      </p:sp>
      <p:sp>
        <p:nvSpPr>
          <p:cNvPr id="55" name="Straight Connector 54"/>
          <p:cNvSpPr/>
          <p:nvPr/>
        </p:nvSpPr>
        <p:spPr>
          <a:xfrm>
            <a:off x="685800" y="1828800"/>
            <a:ext cx="3200400" cy="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u="none" strike="noStrike">
              <a:solidFill>
                <a:srgbClr val="FFFFFF"/>
              </a:solidFill>
              <a:effectLst/>
              <a:uFillTx/>
              <a:latin typeface="Arial"/>
            </a:endParaRPr>
          </a:p>
        </p:txBody>
      </p:sp>
      <p:sp>
        <p:nvSpPr>
          <p:cNvPr id="56" name="Straight Connector 55"/>
          <p:cNvSpPr/>
          <p:nvPr/>
        </p:nvSpPr>
        <p:spPr>
          <a:xfrm>
            <a:off x="5486400" y="1828800"/>
            <a:ext cx="3200400" cy="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56"/>
          <p:cNvPicPr/>
          <p:nvPr/>
        </p:nvPicPr>
        <p:blipFill>
          <a:blip r:embed="rId3">
            <a:alphaModFix amt="39000"/>
          </a:blip>
          <a:stretch/>
        </p:blipFill>
        <p:spPr>
          <a:xfrm>
            <a:off x="0" y="360"/>
            <a:ext cx="3773160" cy="5669640"/>
          </a:xfrm>
          <a:prstGeom prst="rect">
            <a:avLst/>
          </a:prstGeom>
          <a:noFill/>
          <a:ln w="0">
            <a:noFill/>
          </a:ln>
        </p:spPr>
      </p:pic>
      <p:pic>
        <p:nvPicPr>
          <p:cNvPr id="58" name="Picture 57"/>
          <p:cNvPicPr/>
          <p:nvPr/>
        </p:nvPicPr>
        <p:blipFill>
          <a:blip r:embed="rId4">
            <a:alphaModFix amt="40000"/>
          </a:blip>
          <a:stretch/>
        </p:blipFill>
        <p:spPr>
          <a:xfrm>
            <a:off x="3773160" y="0"/>
            <a:ext cx="6276600" cy="5670000"/>
          </a:xfrm>
          <a:prstGeom prst="rect">
            <a:avLst/>
          </a:prstGeom>
          <a:noFill/>
          <a:ln w="0">
            <a:noFill/>
          </a:ln>
        </p:spPr>
      </p:pic>
      <p:sp>
        <p:nvSpPr>
          <p:cNvPr id="59"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Security Risk Profile</a:t>
            </a:r>
          </a:p>
        </p:txBody>
      </p:sp>
      <p:sp>
        <p:nvSpPr>
          <p:cNvPr id="60" name="PlaceHolder 2"/>
          <p:cNvSpPr>
            <a:spLocks noGrp="1"/>
          </p:cNvSpPr>
          <p:nvPr>
            <p:ph/>
          </p:nvPr>
        </p:nvSpPr>
        <p:spPr>
          <a:xfrm>
            <a:off x="0" y="1371600"/>
            <a:ext cx="4426920" cy="3429000"/>
          </a:xfrm>
          <a:prstGeom prst="rect">
            <a:avLst/>
          </a:prstGeom>
          <a:noFill/>
          <a:ln w="0">
            <a:noFill/>
          </a:ln>
        </p:spPr>
        <p:txBody>
          <a:bodyPr lIns="0" tIns="0" rIns="0" bIns="0" anchor="t">
            <a:normAutofit lnSpcReduction="9999"/>
          </a:bodyPr>
          <a:lstStyle/>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No network communication or data collection</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Depends on well-established scientific Python packages</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Local computation prevents data exposure risks</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No authentication or credential management required</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Supply chain risks from dependency updates</a:t>
            </a:r>
          </a:p>
        </p:txBody>
      </p:sp>
      <p:pic>
        <p:nvPicPr>
          <p:cNvPr id="61" name="Picture 60"/>
          <p:cNvPicPr/>
          <p:nvPr/>
        </p:nvPicPr>
        <p:blipFill>
          <a:blip r:embed="rId5"/>
          <a:stretch/>
        </p:blipFill>
        <p:spPr>
          <a:xfrm>
            <a:off x="4429440" y="1143000"/>
            <a:ext cx="5620320" cy="411480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61"/>
          <p:cNvPicPr/>
          <p:nvPr/>
        </p:nvPicPr>
        <p:blipFill>
          <a:blip r:embed="rId3">
            <a:alphaModFix amt="30000"/>
          </a:blip>
          <a:stretch/>
        </p:blipFill>
        <p:spPr>
          <a:xfrm>
            <a:off x="0" y="0"/>
            <a:ext cx="8229600" cy="5739120"/>
          </a:xfrm>
          <a:prstGeom prst="rect">
            <a:avLst/>
          </a:prstGeom>
          <a:noFill/>
          <a:ln w="0">
            <a:noFill/>
          </a:ln>
        </p:spPr>
      </p:pic>
      <p:sp>
        <p:nvSpPr>
          <p:cNvPr id="63"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Using AeroSandBox</a:t>
            </a:r>
          </a:p>
        </p:txBody>
      </p:sp>
      <p:sp>
        <p:nvSpPr>
          <p:cNvPr id="64" name="PlaceHolder 2"/>
          <p:cNvSpPr>
            <a:spLocks noGrp="1"/>
          </p:cNvSpPr>
          <p:nvPr>
            <p:ph/>
          </p:nvPr>
        </p:nvSpPr>
        <p:spPr>
          <a:xfrm>
            <a:off x="145080" y="1371600"/>
            <a:ext cx="4426920" cy="2743200"/>
          </a:xfrm>
          <a:prstGeom prst="rect">
            <a:avLst/>
          </a:prstGeom>
          <a:noFill/>
          <a:ln w="0">
            <a:noFill/>
          </a:ln>
        </p:spPr>
        <p:txBody>
          <a:bodyPr lIns="0" tIns="0" rIns="0" bIns="0" anchor="t">
            <a:normAutofit/>
          </a:bodyPr>
          <a:lstStyle/>
          <a:p>
            <a:pPr marL="432000" indent="0">
              <a:spcBef>
                <a:spcPts val="1417"/>
              </a:spcBef>
              <a:buNone/>
            </a:pPr>
            <a:r>
              <a:rPr lang="en-US" sz="3200" b="0" u="none" strike="noStrike">
                <a:solidFill>
                  <a:srgbClr val="000000"/>
                </a:solidFill>
                <a:effectLst/>
                <a:uFillTx/>
                <a:latin typeface="Arial"/>
              </a:rPr>
              <a:t>Demo:</a:t>
            </a:r>
          </a:p>
          <a:p>
            <a:pPr marL="432000" indent="-324000">
              <a:spcBef>
                <a:spcPts val="1191"/>
              </a:spcBef>
              <a:spcAft>
                <a:spcPts val="992"/>
              </a:spcAft>
              <a:buClr>
                <a:srgbClr val="000000"/>
              </a:buClr>
              <a:buSzPct val="45000"/>
              <a:buFont typeface="Wingdings" charset="2"/>
              <a:buChar char=""/>
            </a:pPr>
            <a:r>
              <a:rPr lang="en-US" sz="1400" b="0" u="none" strike="noStrike">
                <a:solidFill>
                  <a:srgbClr val="000000"/>
                </a:solidFill>
                <a:effectLst/>
                <a:uFillTx/>
                <a:latin typeface="Arial"/>
              </a:rPr>
              <a:t>Vortex Lattice Method for aerodynamic analysis demonstration</a:t>
            </a:r>
          </a:p>
          <a:p>
            <a:pPr marL="432000" indent="-324000">
              <a:spcBef>
                <a:spcPts val="1191"/>
              </a:spcBef>
              <a:spcAft>
                <a:spcPts val="992"/>
              </a:spcAft>
              <a:buClr>
                <a:srgbClr val="000000"/>
              </a:buClr>
              <a:buSzPct val="45000"/>
              <a:buFont typeface="Wingdings" charset="2"/>
              <a:buChar char=""/>
            </a:pPr>
            <a:r>
              <a:rPr lang="en-US" sz="1500" b="0" u="none" strike="noStrike">
                <a:solidFill>
                  <a:srgbClr val="000000"/>
                </a:solidFill>
                <a:effectLst/>
                <a:uFillTx/>
                <a:latin typeface="Arial"/>
              </a:rPr>
              <a:t>Optimizes wing planform for minimum induced drag</a:t>
            </a:r>
          </a:p>
          <a:p>
            <a:pPr marL="432000" indent="0">
              <a:spcBef>
                <a:spcPts val="1191"/>
              </a:spcBef>
              <a:spcAft>
                <a:spcPts val="992"/>
              </a:spcAft>
              <a:buNone/>
            </a:pPr>
            <a:r>
              <a:rPr lang="en-US" sz="1500" b="0" u="none" strike="noStrike">
                <a:solidFill>
                  <a:srgbClr val="000000"/>
                </a:solidFill>
                <a:effectLst/>
                <a:uFillTx/>
                <a:latin typeface="Arial"/>
                <a:hlinkClick r:id="rId4"/>
              </a:rPr>
              <a:t>F-22 Aerodynamic Analysis</a:t>
            </a:r>
            <a:endParaRPr lang="en-US" sz="1500" b="0" u="none" strike="noStrike">
              <a:solidFill>
                <a:srgbClr val="000000"/>
              </a:solidFill>
              <a:effectLst/>
              <a:uFillTx/>
              <a:latin typeface="Arial"/>
            </a:endParaRPr>
          </a:p>
        </p:txBody>
      </p:sp>
      <p:sp>
        <p:nvSpPr>
          <p:cNvPr id="65" name="Straight Connector 64"/>
          <p:cNvSpPr/>
          <p:nvPr/>
        </p:nvSpPr>
        <p:spPr>
          <a:xfrm>
            <a:off x="457200" y="1828800"/>
            <a:ext cx="1371600" cy="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u="none" strike="noStrike">
              <a:solidFill>
                <a:srgbClr val="000000"/>
              </a:solidFill>
              <a:effectLst/>
              <a:uFillTx/>
              <a:latin typeface="Arial"/>
            </a:endParaRPr>
          </a:p>
        </p:txBody>
      </p:sp>
      <p:pic>
        <p:nvPicPr>
          <p:cNvPr id="66" name="Picture 65"/>
          <p:cNvPicPr/>
          <p:nvPr/>
        </p:nvPicPr>
        <p:blipFill>
          <a:blip r:embed="rId5"/>
          <a:stretch/>
        </p:blipFill>
        <p:spPr>
          <a:xfrm>
            <a:off x="6480360" y="1143000"/>
            <a:ext cx="3349440" cy="4114800"/>
          </a:xfrm>
          <a:prstGeom prst="rect">
            <a:avLst/>
          </a:prstGeom>
          <a:noFill/>
          <a:ln w="0">
            <a:noFill/>
          </a:ln>
        </p:spPr>
      </p:pic>
      <p:pic>
        <p:nvPicPr>
          <p:cNvPr id="67" name="Picture 66"/>
          <p:cNvPicPr/>
          <p:nvPr/>
        </p:nvPicPr>
        <p:blipFill>
          <a:blip r:embed="rId6"/>
          <a:stretch/>
        </p:blipFill>
        <p:spPr>
          <a:xfrm>
            <a:off x="4572000" y="1828800"/>
            <a:ext cx="1600200" cy="356076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67"/>
          <p:cNvPicPr/>
          <p:nvPr/>
        </p:nvPicPr>
        <p:blipFill>
          <a:blip r:embed="rId3">
            <a:alphaModFix amt="20000"/>
          </a:blip>
          <a:stretch/>
        </p:blipFill>
        <p:spPr>
          <a:xfrm>
            <a:off x="-11160" y="-16200"/>
            <a:ext cx="10058400" cy="5669640"/>
          </a:xfrm>
          <a:prstGeom prst="rect">
            <a:avLst/>
          </a:prstGeom>
          <a:noFill/>
          <a:ln w="0">
            <a:noFill/>
          </a:ln>
        </p:spPr>
      </p:pic>
      <p:sp>
        <p:nvSpPr>
          <p:cNvPr id="69"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What does pyopensky do? </a:t>
            </a:r>
          </a:p>
        </p:txBody>
      </p:sp>
      <p:sp>
        <p:nvSpPr>
          <p:cNvPr id="70" name="PlaceHolder 2"/>
          <p:cNvSpPr>
            <a:spLocks noGrp="1"/>
          </p:cNvSpPr>
          <p:nvPr>
            <p:ph/>
          </p:nvPr>
        </p:nvSpPr>
        <p:spPr>
          <a:xfrm>
            <a:off x="504000" y="1326600"/>
            <a:ext cx="29206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1500" b="0" u="none" strike="noStrike">
                <a:solidFill>
                  <a:srgbClr val="000000"/>
                </a:solidFill>
                <a:effectLst/>
                <a:uFillTx/>
                <a:latin typeface="Arial"/>
              </a:rPr>
              <a:t>Accesses OpenSky Network flight data APIs</a:t>
            </a:r>
          </a:p>
        </p:txBody>
      </p:sp>
      <p:sp>
        <p:nvSpPr>
          <p:cNvPr id="71" name="PlaceHolder 3"/>
          <p:cNvSpPr>
            <a:spLocks noGrp="1"/>
          </p:cNvSpPr>
          <p:nvPr>
            <p:ph/>
          </p:nvPr>
        </p:nvSpPr>
        <p:spPr>
          <a:xfrm>
            <a:off x="3571200" y="1326600"/>
            <a:ext cx="29206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1500" b="0" u="none" strike="noStrike">
                <a:solidFill>
                  <a:srgbClr val="000000"/>
                </a:solidFill>
                <a:effectLst/>
                <a:uFillTx/>
                <a:latin typeface="Arial"/>
              </a:rPr>
              <a:t>Retrieves live aircraft positions and trajectories</a:t>
            </a:r>
          </a:p>
        </p:txBody>
      </p:sp>
      <p:sp>
        <p:nvSpPr>
          <p:cNvPr id="72" name="PlaceHolder 4"/>
          <p:cNvSpPr>
            <a:spLocks noGrp="1"/>
          </p:cNvSpPr>
          <p:nvPr>
            <p:ph/>
          </p:nvPr>
        </p:nvSpPr>
        <p:spPr>
          <a:xfrm>
            <a:off x="6638040" y="1326600"/>
            <a:ext cx="29206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1500" b="0" u="none" strike="noStrike">
                <a:solidFill>
                  <a:srgbClr val="000000"/>
                </a:solidFill>
                <a:effectLst/>
                <a:uFillTx/>
                <a:latin typeface="Arial"/>
              </a:rPr>
              <a:t>Provides flight tracking and analysis tools</a:t>
            </a:r>
          </a:p>
        </p:txBody>
      </p:sp>
      <p:sp>
        <p:nvSpPr>
          <p:cNvPr id="73" name="PlaceHolder 5"/>
          <p:cNvSpPr>
            <a:spLocks noGrp="1"/>
          </p:cNvSpPr>
          <p:nvPr>
            <p:ph/>
          </p:nvPr>
        </p:nvSpPr>
        <p:spPr>
          <a:xfrm>
            <a:off x="504000" y="3173760"/>
            <a:ext cx="29206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1500" b="0" u="none" strike="noStrike">
                <a:solidFill>
                  <a:srgbClr val="000000"/>
                </a:solidFill>
                <a:effectLst/>
                <a:uFillTx/>
                <a:latin typeface="Arial"/>
              </a:rPr>
              <a:t>Integrates pandas DataFrames for data analysis</a:t>
            </a:r>
          </a:p>
        </p:txBody>
      </p:sp>
      <p:sp>
        <p:nvSpPr>
          <p:cNvPr id="74" name="PlaceHolder 6"/>
          <p:cNvSpPr>
            <a:spLocks noGrp="1"/>
          </p:cNvSpPr>
          <p:nvPr>
            <p:ph/>
          </p:nvPr>
        </p:nvSpPr>
        <p:spPr>
          <a:xfrm>
            <a:off x="3576960" y="3184920"/>
            <a:ext cx="29206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1500" b="0" u="none" strike="noStrike">
                <a:solidFill>
                  <a:srgbClr val="000000"/>
                </a:solidFill>
                <a:effectLst/>
                <a:uFillTx/>
                <a:latin typeface="Arial"/>
              </a:rPr>
              <a:t>Open source LGPL license actively maintained</a:t>
            </a:r>
          </a:p>
        </p:txBody>
      </p:sp>
      <p:sp>
        <p:nvSpPr>
          <p:cNvPr id="75" name="PlaceHolder 7"/>
          <p:cNvSpPr>
            <a:spLocks noGrp="1"/>
          </p:cNvSpPr>
          <p:nvPr>
            <p:ph/>
          </p:nvPr>
        </p:nvSpPr>
        <p:spPr>
          <a:xfrm>
            <a:off x="6716880" y="3134160"/>
            <a:ext cx="2920680" cy="1568160"/>
          </a:xfrm>
          <a:prstGeom prst="rect">
            <a:avLst/>
          </a:prstGeom>
          <a:noFill/>
          <a:ln w="0">
            <a:noFill/>
          </a:ln>
        </p:spPr>
        <p:txBody>
          <a:bodyPr lIns="0" tIns="0" rIns="0" bIns="0" anchor="t">
            <a:normAutofit/>
          </a:bodyPr>
          <a:lstStyle/>
          <a:p>
            <a:pPr marL="432000" indent="0">
              <a:spcBef>
                <a:spcPts val="1191"/>
              </a:spcBef>
              <a:spcAft>
                <a:spcPts val="992"/>
              </a:spcAft>
              <a:buNone/>
            </a:pPr>
            <a:r>
              <a:rPr lang="en-US" sz="1500" b="0" u="none" strike="noStrike">
                <a:solidFill>
                  <a:srgbClr val="000000"/>
                </a:solidFill>
                <a:effectLst/>
                <a:uFillTx/>
                <a:latin typeface="Arial"/>
              </a:rPr>
              <a:t>Queries historical ADS-B Mode S databases</a:t>
            </a:r>
          </a:p>
        </p:txBody>
      </p:sp>
      <p:pic>
        <p:nvPicPr>
          <p:cNvPr id="76" name="Picture 75"/>
          <p:cNvPicPr/>
          <p:nvPr/>
        </p:nvPicPr>
        <p:blipFill>
          <a:blip r:embed="rId4"/>
          <a:stretch/>
        </p:blipFill>
        <p:spPr>
          <a:xfrm>
            <a:off x="3665160" y="1854360"/>
            <a:ext cx="2715120" cy="1290960"/>
          </a:xfrm>
          <a:prstGeom prst="rect">
            <a:avLst/>
          </a:prstGeom>
          <a:noFill/>
          <a:ln w="0">
            <a:noFill/>
          </a:ln>
        </p:spPr>
      </p:pic>
      <p:pic>
        <p:nvPicPr>
          <p:cNvPr id="77" name="Picture 76"/>
          <p:cNvPicPr/>
          <p:nvPr/>
        </p:nvPicPr>
        <p:blipFill>
          <a:blip r:embed="rId5"/>
          <a:stretch/>
        </p:blipFill>
        <p:spPr>
          <a:xfrm>
            <a:off x="7498800" y="1841400"/>
            <a:ext cx="1197360" cy="1058040"/>
          </a:xfrm>
          <a:prstGeom prst="rect">
            <a:avLst/>
          </a:prstGeom>
          <a:noFill/>
          <a:ln w="0">
            <a:noFill/>
          </a:ln>
        </p:spPr>
      </p:pic>
      <p:pic>
        <p:nvPicPr>
          <p:cNvPr id="78" name="Picture 77"/>
          <p:cNvPicPr/>
          <p:nvPr/>
        </p:nvPicPr>
        <p:blipFill>
          <a:blip r:embed="rId6"/>
          <a:stretch/>
        </p:blipFill>
        <p:spPr>
          <a:xfrm>
            <a:off x="1343520" y="3810240"/>
            <a:ext cx="1355760" cy="1355760"/>
          </a:xfrm>
          <a:prstGeom prst="rect">
            <a:avLst/>
          </a:prstGeom>
          <a:noFill/>
          <a:ln w="0">
            <a:noFill/>
          </a:ln>
        </p:spPr>
      </p:pic>
      <p:pic>
        <p:nvPicPr>
          <p:cNvPr id="79" name="Picture 78"/>
          <p:cNvPicPr/>
          <p:nvPr/>
        </p:nvPicPr>
        <p:blipFill>
          <a:blip r:embed="rId7"/>
          <a:stretch/>
        </p:blipFill>
        <p:spPr>
          <a:xfrm>
            <a:off x="842400" y="2031480"/>
            <a:ext cx="2004120" cy="66096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
        <p:cNvGrpSpPr/>
        <p:nvPr/>
      </p:nvGrpSpPr>
      <p:grpSpPr>
        <a:xfrm>
          <a:off x="0" y="0"/>
          <a:ext cx="0" cy="0"/>
          <a:chOff x="0" y="0"/>
          <a:chExt cx="0" cy="0"/>
        </a:xfrm>
      </p:grpSpPr>
      <p:pic>
        <p:nvPicPr>
          <p:cNvPr id="80" name="Picture 79"/>
          <p:cNvPicPr/>
          <p:nvPr/>
        </p:nvPicPr>
        <p:blipFill>
          <a:blip r:embed="rId3">
            <a:alphaModFix amt="30000"/>
          </a:blip>
          <a:stretch/>
        </p:blipFill>
        <p:spPr>
          <a:xfrm>
            <a:off x="-9360" y="1815120"/>
            <a:ext cx="10086480" cy="3900240"/>
          </a:xfrm>
          <a:prstGeom prst="rect">
            <a:avLst/>
          </a:prstGeom>
          <a:noFill/>
          <a:ln w="0">
            <a:noFill/>
          </a:ln>
        </p:spPr>
      </p:pic>
      <p:sp>
        <p:nvSpPr>
          <p:cNvPr id="81"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FFFFFF"/>
                </a:solidFill>
                <a:effectLst/>
                <a:uFillTx/>
                <a:latin typeface="Arial"/>
              </a:rPr>
              <a:t>Advantages and Disadvantages</a:t>
            </a:r>
          </a:p>
        </p:txBody>
      </p:sp>
      <p:sp>
        <p:nvSpPr>
          <p:cNvPr id="82" name="PlaceHolder 2"/>
          <p:cNvSpPr>
            <a:spLocks noGrp="1"/>
          </p:cNvSpPr>
          <p:nvPr>
            <p:ph/>
          </p:nvPr>
        </p:nvSpPr>
        <p:spPr>
          <a:xfrm>
            <a:off x="323640" y="1382760"/>
            <a:ext cx="4426920" cy="3288240"/>
          </a:xfrm>
          <a:prstGeom prst="rect">
            <a:avLst/>
          </a:prstGeom>
          <a:noFill/>
          <a:ln w="0">
            <a:noFill/>
          </a:ln>
        </p:spPr>
        <p:txBody>
          <a:bodyPr lIns="0" tIns="0" rIns="0" bIns="0" anchor="t">
            <a:normAutofit/>
          </a:bodyPr>
          <a:lstStyle/>
          <a:p>
            <a:pPr marL="432000" indent="0">
              <a:spcBef>
                <a:spcPts val="1417"/>
              </a:spcBef>
              <a:buNone/>
            </a:pPr>
            <a:r>
              <a:rPr lang="en-US" sz="3200" b="0" u="none" strike="noStrike">
                <a:solidFill>
                  <a:srgbClr val="FFFFFF"/>
                </a:solidFill>
                <a:effectLst/>
                <a:uFillTx/>
                <a:latin typeface="Arial"/>
              </a:rPr>
              <a:t>Pros</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Free access to global flight data</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Real-time and historical data available</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Active development and community support</a:t>
            </a:r>
          </a:p>
        </p:txBody>
      </p:sp>
      <p:sp>
        <p:nvSpPr>
          <p:cNvPr id="83" name="PlaceHolder 3"/>
          <p:cNvSpPr>
            <a:spLocks noGrp="1"/>
          </p:cNvSpPr>
          <p:nvPr>
            <p:ph/>
          </p:nvPr>
        </p:nvSpPr>
        <p:spPr>
          <a:xfrm>
            <a:off x="4943880" y="1399680"/>
            <a:ext cx="4426920" cy="3288240"/>
          </a:xfrm>
          <a:prstGeom prst="rect">
            <a:avLst/>
          </a:prstGeom>
          <a:noFill/>
          <a:ln w="0">
            <a:noFill/>
          </a:ln>
        </p:spPr>
        <p:txBody>
          <a:bodyPr lIns="0" tIns="0" rIns="0" bIns="0" anchor="t">
            <a:normAutofit/>
          </a:bodyPr>
          <a:lstStyle/>
          <a:p>
            <a:pPr marL="432000" indent="0">
              <a:spcBef>
                <a:spcPts val="1417"/>
              </a:spcBef>
              <a:buNone/>
            </a:pPr>
            <a:r>
              <a:rPr lang="en-US" sz="3200" b="0" u="none" strike="noStrike">
                <a:solidFill>
                  <a:srgbClr val="FFFFFF"/>
                </a:solidFill>
                <a:effectLst/>
                <a:uFillTx/>
                <a:latin typeface="Arial"/>
              </a:rPr>
              <a:t>Cons</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Authentication needed for historical database access</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API rate limits on unauthenticated request</a:t>
            </a:r>
          </a:p>
          <a:p>
            <a:pPr marL="432000" indent="-324000">
              <a:spcBef>
                <a:spcPts val="1191"/>
              </a:spcBef>
              <a:spcAft>
                <a:spcPts val="992"/>
              </a:spcAft>
              <a:buClr>
                <a:srgbClr val="FFFFFF"/>
              </a:buClr>
              <a:buSzPct val="45000"/>
              <a:buFont typeface="Wingdings" charset="2"/>
              <a:buChar char=""/>
            </a:pPr>
            <a:r>
              <a:rPr lang="en-US" sz="1500" b="0" u="none" strike="noStrike">
                <a:solidFill>
                  <a:srgbClr val="FFFFFF"/>
                </a:solidFill>
                <a:effectLst/>
                <a:uFillTx/>
                <a:latin typeface="Arial"/>
              </a:rPr>
              <a:t>Data quality depends on receiver coverage</a:t>
            </a:r>
          </a:p>
        </p:txBody>
      </p:sp>
      <p:sp>
        <p:nvSpPr>
          <p:cNvPr id="84" name="Straight Connector 83"/>
          <p:cNvSpPr/>
          <p:nvPr/>
        </p:nvSpPr>
        <p:spPr>
          <a:xfrm>
            <a:off x="685800" y="1828800"/>
            <a:ext cx="3200400" cy="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u="none" strike="noStrike">
              <a:solidFill>
                <a:srgbClr val="FFFFFF"/>
              </a:solidFill>
              <a:effectLst/>
              <a:uFillTx/>
              <a:latin typeface="Arial"/>
            </a:endParaRPr>
          </a:p>
        </p:txBody>
      </p:sp>
      <p:sp>
        <p:nvSpPr>
          <p:cNvPr id="85" name="Straight Connector 84"/>
          <p:cNvSpPr/>
          <p:nvPr/>
        </p:nvSpPr>
        <p:spPr>
          <a:xfrm>
            <a:off x="5486400" y="1828800"/>
            <a:ext cx="3200400" cy="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u="none" strike="noStrike">
              <a:solidFill>
                <a:srgbClr val="FFFFFF"/>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85"/>
          <p:cNvPicPr/>
          <p:nvPr/>
        </p:nvPicPr>
        <p:blipFill>
          <a:blip r:embed="rId3">
            <a:alphaModFix amt="39000"/>
          </a:blip>
          <a:stretch/>
        </p:blipFill>
        <p:spPr>
          <a:xfrm>
            <a:off x="0" y="360"/>
            <a:ext cx="3773160" cy="5669640"/>
          </a:xfrm>
          <a:prstGeom prst="rect">
            <a:avLst/>
          </a:prstGeom>
          <a:noFill/>
          <a:ln w="0">
            <a:noFill/>
          </a:ln>
        </p:spPr>
      </p:pic>
      <p:pic>
        <p:nvPicPr>
          <p:cNvPr id="87" name="Picture 86"/>
          <p:cNvPicPr/>
          <p:nvPr/>
        </p:nvPicPr>
        <p:blipFill>
          <a:blip r:embed="rId4">
            <a:alphaModFix amt="40000"/>
          </a:blip>
          <a:stretch/>
        </p:blipFill>
        <p:spPr>
          <a:xfrm>
            <a:off x="3773160" y="0"/>
            <a:ext cx="6276600" cy="5670000"/>
          </a:xfrm>
          <a:prstGeom prst="rect">
            <a:avLst/>
          </a:prstGeom>
          <a:noFill/>
          <a:ln w="0">
            <a:noFill/>
          </a:ln>
        </p:spPr>
      </p:pic>
      <p:sp>
        <p:nvSpPr>
          <p:cNvPr id="88"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Security Risk Profile</a:t>
            </a:r>
          </a:p>
        </p:txBody>
      </p:sp>
      <p:sp>
        <p:nvSpPr>
          <p:cNvPr id="89" name="PlaceHolder 2"/>
          <p:cNvSpPr>
            <a:spLocks noGrp="1"/>
          </p:cNvSpPr>
          <p:nvPr>
            <p:ph/>
          </p:nvPr>
        </p:nvSpPr>
        <p:spPr>
          <a:xfrm>
            <a:off x="0" y="1371600"/>
            <a:ext cx="4426920" cy="3429000"/>
          </a:xfrm>
          <a:prstGeom prst="rect">
            <a:avLst/>
          </a:prstGeom>
          <a:noFill/>
          <a:ln w="0">
            <a:noFill/>
          </a:ln>
        </p:spPr>
        <p:txBody>
          <a:bodyPr lIns="0" tIns="0" rIns="0" bIns="0" anchor="t">
            <a:normAutofit lnSpcReduction="9999"/>
          </a:bodyPr>
          <a:lstStyle/>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Makes external API calls to OpenSky servers</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Requires credential storage for historical data access</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Network traffic contains flight query patterns</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Depends on moderate number Python packages</a:t>
            </a:r>
          </a:p>
          <a:p>
            <a:pPr marL="432000" indent="-324000">
              <a:spcBef>
                <a:spcPts val="1191"/>
              </a:spcBef>
              <a:spcAft>
                <a:spcPts val="992"/>
              </a:spcAft>
              <a:buClr>
                <a:srgbClr val="000000"/>
              </a:buClr>
              <a:buSzPct val="45000"/>
              <a:buFont typeface="Wingdings" charset="2"/>
              <a:buChar char=""/>
            </a:pPr>
            <a:r>
              <a:rPr lang="en-US" sz="2000" b="0" u="none" strike="noStrike">
                <a:solidFill>
                  <a:srgbClr val="000000"/>
                </a:solidFill>
                <a:effectLst/>
                <a:uFillTx/>
                <a:latin typeface="Arial"/>
              </a:rPr>
              <a:t>No sensitive data processing beyond credentials</a:t>
            </a:r>
          </a:p>
        </p:txBody>
      </p:sp>
      <p:pic>
        <p:nvPicPr>
          <p:cNvPr id="90" name="Picture 89"/>
          <p:cNvPicPr/>
          <p:nvPr/>
        </p:nvPicPr>
        <p:blipFill>
          <a:blip r:embed="rId5"/>
          <a:stretch/>
        </p:blipFill>
        <p:spPr>
          <a:xfrm>
            <a:off x="4827600" y="1270800"/>
            <a:ext cx="4545000" cy="375840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Picture 90"/>
          <p:cNvPicPr/>
          <p:nvPr/>
        </p:nvPicPr>
        <p:blipFill>
          <a:blip r:embed="rId3">
            <a:alphaModFix amt="30000"/>
          </a:blip>
          <a:stretch/>
        </p:blipFill>
        <p:spPr>
          <a:xfrm>
            <a:off x="0" y="0"/>
            <a:ext cx="8229600" cy="5739120"/>
          </a:xfrm>
          <a:prstGeom prst="rect">
            <a:avLst/>
          </a:prstGeom>
          <a:noFill/>
          <a:ln w="0">
            <a:noFill/>
          </a:ln>
        </p:spPr>
      </p:pic>
      <p:pic>
        <p:nvPicPr>
          <p:cNvPr id="92" name="Picture 91"/>
          <p:cNvPicPr/>
          <p:nvPr/>
        </p:nvPicPr>
        <p:blipFill>
          <a:blip r:embed="rId4"/>
          <a:stretch/>
        </p:blipFill>
        <p:spPr>
          <a:xfrm>
            <a:off x="2941920" y="2446200"/>
            <a:ext cx="3105720" cy="2795040"/>
          </a:xfrm>
          <a:prstGeom prst="rect">
            <a:avLst/>
          </a:prstGeom>
          <a:noFill/>
          <a:ln w="0">
            <a:noFill/>
          </a:ln>
        </p:spPr>
      </p:pic>
      <p:sp>
        <p:nvSpPr>
          <p:cNvPr id="93"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Using pyopensky</a:t>
            </a:r>
          </a:p>
        </p:txBody>
      </p:sp>
      <p:sp>
        <p:nvSpPr>
          <p:cNvPr id="94" name="PlaceHolder 2"/>
          <p:cNvSpPr>
            <a:spLocks noGrp="1"/>
          </p:cNvSpPr>
          <p:nvPr>
            <p:ph/>
          </p:nvPr>
        </p:nvSpPr>
        <p:spPr>
          <a:xfrm>
            <a:off x="100080" y="1191240"/>
            <a:ext cx="4426920" cy="2743200"/>
          </a:xfrm>
          <a:prstGeom prst="rect">
            <a:avLst/>
          </a:prstGeom>
          <a:noFill/>
          <a:ln w="0">
            <a:noFill/>
          </a:ln>
        </p:spPr>
        <p:txBody>
          <a:bodyPr lIns="0" tIns="0" rIns="0" bIns="0" anchor="t">
            <a:normAutofit/>
          </a:bodyPr>
          <a:lstStyle/>
          <a:p>
            <a:pPr marL="432000" indent="0">
              <a:spcBef>
                <a:spcPts val="1417"/>
              </a:spcBef>
              <a:buNone/>
            </a:pPr>
            <a:r>
              <a:rPr lang="en-US" sz="2100" b="0" u="none" strike="noStrike">
                <a:solidFill>
                  <a:srgbClr val="000000"/>
                </a:solidFill>
                <a:effectLst/>
                <a:uFillTx/>
                <a:latin typeface="Arial"/>
              </a:rPr>
              <a:t>Demo:</a:t>
            </a:r>
          </a:p>
          <a:p>
            <a:pPr indent="0">
              <a:spcBef>
                <a:spcPts val="1417"/>
              </a:spcBef>
              <a:buNone/>
            </a:pPr>
            <a:r>
              <a:rPr lang="en-US" sz="2000" b="0" u="none" strike="noStrike">
                <a:solidFill>
                  <a:srgbClr val="000000"/>
                </a:solidFill>
                <a:effectLst/>
                <a:uFillTx/>
                <a:latin typeface="Arial"/>
                <a:hlinkClick r:id="rId5"/>
              </a:rPr>
              <a:t>jupyter notebook using pyopensky</a:t>
            </a:r>
            <a:endParaRPr lang="en-US" sz="2000" b="0" u="none" strike="noStrike">
              <a:solidFill>
                <a:srgbClr val="000000"/>
              </a:solidFill>
              <a:effectLst/>
              <a:uFillTx/>
              <a:latin typeface="Arial"/>
            </a:endParaRPr>
          </a:p>
        </p:txBody>
      </p:sp>
      <p:sp>
        <p:nvSpPr>
          <p:cNvPr id="95" name="Straight Connector 94"/>
          <p:cNvSpPr/>
          <p:nvPr/>
        </p:nvSpPr>
        <p:spPr>
          <a:xfrm>
            <a:off x="395280" y="1507320"/>
            <a:ext cx="1371600" cy="0"/>
          </a:xfrm>
          <a:prstGeom prst="line">
            <a:avLst/>
          </a:prstGeom>
          <a:ln w="19080">
            <a:solidFill>
              <a:srgbClr val="000000"/>
            </a:solidFill>
            <a:roun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u="none" strike="noStrike">
              <a:solidFill>
                <a:srgbClr val="000000"/>
              </a:solidFill>
              <a:effectLst/>
              <a:uFillTx/>
              <a:latin typeface="Arial"/>
            </a:endParaRPr>
          </a:p>
        </p:txBody>
      </p:sp>
      <p:pic>
        <p:nvPicPr>
          <p:cNvPr id="96" name="Picture 95"/>
          <p:cNvPicPr/>
          <p:nvPr/>
        </p:nvPicPr>
        <p:blipFill>
          <a:blip r:embed="rId6"/>
          <a:stretch/>
        </p:blipFill>
        <p:spPr>
          <a:xfrm>
            <a:off x="6276240" y="1104840"/>
            <a:ext cx="3706200" cy="349416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lstStyle/>
          <a:p>
            <a:pPr indent="0" algn="ctr">
              <a:buNone/>
            </a:pPr>
            <a:r>
              <a:rPr lang="en-US" sz="4400" b="0" u="none" strike="noStrike">
                <a:solidFill>
                  <a:srgbClr val="000000"/>
                </a:solidFill>
                <a:effectLst/>
                <a:uFillTx/>
                <a:latin typeface="Arial"/>
              </a:rPr>
              <a:t>References </a:t>
            </a:r>
          </a:p>
        </p:txBody>
      </p:sp>
      <p:sp>
        <p:nvSpPr>
          <p:cNvPr id="98" name="PlaceHolder 2"/>
          <p:cNvSpPr>
            <a:spLocks noGrp="1"/>
          </p:cNvSpPr>
          <p:nvPr>
            <p:ph/>
          </p:nvPr>
        </p:nvSpPr>
        <p:spPr>
          <a:xfrm>
            <a:off x="504000" y="1326600"/>
            <a:ext cx="9071640" cy="1568160"/>
          </a:xfrm>
          <a:prstGeom prst="rect">
            <a:avLst/>
          </a:prstGeom>
          <a:noFill/>
          <a:ln w="0">
            <a:noFill/>
          </a:ln>
        </p:spPr>
        <p:txBody>
          <a:bodyPr lIns="0" tIns="0" rIns="0" bIns="0" anchor="t">
            <a:normAutofit/>
          </a:bodyPr>
          <a:lstStyle/>
          <a:p>
            <a:pPr marL="432000" indent="-324000">
              <a:spcBef>
                <a:spcPts val="1191"/>
              </a:spcBef>
              <a:spcAft>
                <a:spcPts val="992"/>
              </a:spcAft>
              <a:buClr>
                <a:srgbClr val="000000"/>
              </a:buClr>
              <a:buSzPct val="45000"/>
              <a:buFont typeface="Wingdings" charset="2"/>
              <a:buChar char=""/>
            </a:pPr>
            <a:r>
              <a:rPr lang="en-US" sz="1000" b="0" u="none" strike="noStrike">
                <a:solidFill>
                  <a:srgbClr val="000000"/>
                </a:solidFill>
                <a:effectLst/>
                <a:uFillTx/>
                <a:latin typeface="Arial"/>
              </a:rPr>
              <a:t>OpenSky Network. (2024). Pyopensky: The Python interface for OpenSky database (Version 2.15) [Computer software]. GitHub. </a:t>
            </a:r>
            <a:r>
              <a:rPr lang="en-US" sz="1000" b="0" u="none" strike="noStrike">
                <a:solidFill>
                  <a:srgbClr val="000000"/>
                </a:solidFill>
                <a:effectLst/>
                <a:uFillTx/>
                <a:latin typeface="Arial"/>
                <a:hlinkClick r:id="rId2"/>
              </a:rPr>
              <a:t>https://github.com/open-aviation/pyopensky</a:t>
            </a:r>
            <a:endParaRPr lang="en-US" sz="1000" b="0" u="none" strike="noStrike">
              <a:solidFill>
                <a:srgbClr val="000000"/>
              </a:solidFill>
              <a:effectLst/>
              <a:uFillTx/>
              <a:latin typeface="Arial"/>
            </a:endParaRPr>
          </a:p>
          <a:p>
            <a:pPr marL="432000" indent="-324000">
              <a:spcBef>
                <a:spcPts val="1191"/>
              </a:spcBef>
              <a:spcAft>
                <a:spcPts val="992"/>
              </a:spcAft>
              <a:buClr>
                <a:srgbClr val="000000"/>
              </a:buClr>
              <a:buSzPct val="45000"/>
              <a:buFont typeface="Wingdings" charset="2"/>
              <a:buChar char=""/>
            </a:pPr>
            <a:r>
              <a:rPr lang="en-US" sz="1000" b="0" u="none" strike="noStrike">
                <a:solidFill>
                  <a:srgbClr val="000000"/>
                </a:solidFill>
                <a:effectLst/>
                <a:uFillTx/>
                <a:latin typeface="Arial"/>
              </a:rPr>
              <a:t>OpenSky Network. (2024). Pyopensky documentation. https://mode-s.org/pyopensky/ </a:t>
            </a:r>
          </a:p>
          <a:p>
            <a:pPr marL="432000" indent="-324000">
              <a:spcBef>
                <a:spcPts val="1191"/>
              </a:spcBef>
              <a:spcAft>
                <a:spcPts val="992"/>
              </a:spcAft>
              <a:buClr>
                <a:srgbClr val="000000"/>
              </a:buClr>
              <a:buSzPct val="45000"/>
              <a:buFont typeface="Wingdings" charset="2"/>
              <a:buChar char=""/>
            </a:pPr>
            <a:r>
              <a:rPr lang="en-US" sz="1000" b="0" u="none" strike="noStrike">
                <a:solidFill>
                  <a:srgbClr val="000000"/>
                </a:solidFill>
                <a:effectLst/>
                <a:uFillTx/>
                <a:latin typeface="Arial"/>
              </a:rPr>
              <a:t>Sharpe, P. D. (2024). AeroSandbox: A differentiable framework for aircraft design optimization [Computer software]. Massachusetts Institute of Technology. https://github.com/peterdsharpe/AeroSandbox</a:t>
            </a:r>
          </a:p>
        </p:txBody>
      </p:sp>
      <p:sp>
        <p:nvSpPr>
          <p:cNvPr id="99" name="PlaceHolder 3"/>
          <p:cNvSpPr>
            <a:spLocks noGrp="1"/>
          </p:cNvSpPr>
          <p:nvPr>
            <p:ph/>
          </p:nvPr>
        </p:nvSpPr>
        <p:spPr>
          <a:xfrm>
            <a:off x="504000" y="2514600"/>
            <a:ext cx="9071640" cy="1568160"/>
          </a:xfrm>
          <a:prstGeom prst="rect">
            <a:avLst/>
          </a:prstGeom>
          <a:noFill/>
          <a:ln w="0">
            <a:noFill/>
          </a:ln>
        </p:spPr>
        <p:txBody>
          <a:bodyPr lIns="0" tIns="0" rIns="0" bIns="0" anchor="t">
            <a:normAutofit/>
          </a:bodyPr>
          <a:lstStyle/>
          <a:p>
            <a:pPr marL="432000" indent="-324000">
              <a:spcBef>
                <a:spcPts val="1191"/>
              </a:spcBef>
              <a:spcAft>
                <a:spcPts val="992"/>
              </a:spcAft>
              <a:buClr>
                <a:srgbClr val="000000"/>
              </a:buClr>
              <a:buSzPct val="45000"/>
              <a:buFont typeface="Wingdings" charset="2"/>
              <a:buChar char=""/>
            </a:pPr>
            <a:r>
              <a:rPr lang="en-US" sz="1000" b="0" u="none" strike="noStrike">
                <a:solidFill>
                  <a:srgbClr val="000000"/>
                </a:solidFill>
                <a:effectLst/>
                <a:uFillTx/>
                <a:latin typeface="Arial"/>
              </a:rPr>
              <a:t>Sharpe, P. D. (2024). Accelerating practical engineering design optimization with computational graph transformations [Doctoral dissertation, Massachusetts Institute of Technology]. MIT DSpace. https://dspace.mit.edu/handle/1721.1/157809</a:t>
            </a:r>
          </a:p>
        </p:txBody>
      </p:sp>
      <p:pic>
        <p:nvPicPr>
          <p:cNvPr id="100" name="Picture 99"/>
          <p:cNvPicPr/>
          <p:nvPr/>
        </p:nvPicPr>
        <p:blipFill>
          <a:blip r:embed="rId3">
            <a:alphaModFix amt="25000"/>
          </a:blip>
          <a:stretch/>
        </p:blipFill>
        <p:spPr>
          <a:xfrm>
            <a:off x="0" y="360"/>
            <a:ext cx="10058400" cy="5669640"/>
          </a:xfrm>
          <a:prstGeom prst="rect">
            <a:avLst/>
          </a:prstGeom>
          <a:noFill/>
          <a:ln w="0">
            <a:noFill/>
          </a:ln>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185</TotalTime>
  <Words>1773</Words>
  <Application>Microsoft Office PowerPoint</Application>
  <PresentationFormat>Custom</PresentationFormat>
  <Paragraphs>78</Paragraphs>
  <Slides>10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JetBrainsMono NF</vt:lpstr>
      <vt:lpstr>JetBrainsMono NF Medium</vt:lpstr>
      <vt:lpstr>JetBrainsMono NF SemiBold</vt:lpstr>
      <vt:lpstr>Symbol</vt:lpstr>
      <vt:lpstr>Times New Roman</vt:lpstr>
      <vt:lpstr>Wingdings</vt:lpstr>
      <vt:lpstr>Office</vt:lpstr>
      <vt:lpstr>Aviation Software Development with Python</vt:lpstr>
      <vt:lpstr>What does AeroSandBox do?</vt:lpstr>
      <vt:lpstr>Advantages and Disadvantages</vt:lpstr>
      <vt:lpstr>Security Risk Profile</vt:lpstr>
      <vt:lpstr>Using AeroSandBox</vt:lpstr>
      <vt:lpstr>What does pyopensky do? </vt:lpstr>
      <vt:lpstr>Advantages and Disadvantages</vt:lpstr>
      <vt:lpstr>Security Risk Profile</vt:lpstr>
      <vt:lpstr>Using pyopensky</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Owen Lindsey</cp:lastModifiedBy>
  <cp:revision>6</cp:revision>
  <cp:lastPrinted>2025-12-12T11:34:32Z</cp:lastPrinted>
  <dcterms:created xsi:type="dcterms:W3CDTF">2025-12-11T10:04:00Z</dcterms:created>
  <dcterms:modified xsi:type="dcterms:W3CDTF">2025-12-12T18:54:50Z</dcterms:modified>
  <dc:language>en-US</dc:language>
</cp:coreProperties>
</file>